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4" r:id="rId3"/>
    <p:sldId id="257" r:id="rId4"/>
    <p:sldId id="258" r:id="rId5"/>
    <p:sldId id="259" r:id="rId6"/>
    <p:sldId id="260" r:id="rId7"/>
    <p:sldId id="261" r:id="rId8"/>
    <p:sldId id="262" r:id="rId9"/>
    <p:sldId id="263"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 dt="2026-10-03T17:30:14.255"/>
    <p1510:client id="{1C325792-AE67-A813-7623-DDDF099EDAC0}" v="71" dt="2026-10-03T19:01:06.458"/>
    <p1510:client id="{8C524374-5C34-3EBF-7346-90470091C4C4}" v="21" dt="2026-10-03T17:29:48.229"/>
    <p1510:client id="{EFF512D7-913C-D1B1-F628-7838E587AD2D}" v="21" dt="2026-10-03T17:31:42.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D269D51-08F6-4282-9E92-8E88987BF043}" type="datetimeFigureOut">
              <a:t>10/4/2026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4BF96B4D-E35C-460C-BDB0-85D3993F9510}" type="slidenum">
              <a:t>‹#›</a:t>
            </a:fld>
            <a:endParaRPr lang="en-US"/>
          </a:p>
        </p:txBody>
      </p:sp>
    </p:spTree>
    <p:extLst>
      <p:ext uri="{BB962C8B-B14F-4D97-AF65-F5344CB8AC3E}">
        <p14:creationId xmlns:p14="http://schemas.microsoft.com/office/powerpoint/2010/main" val="236477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CIO (~30s): Recommend Option C: continue with restrictions and explicit conditions. Not saying the system is safe; not declaring a confirmed HIPAA breach. Controlled continuation while we reduce exposure, preserve evidence, strengthen controls and determine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CIO / Privacy: Evidence raised risk substantially but does not yet establish full scope or a confirmed reportable breach.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CISO: major security risks are leakage, prompt injection, unauthorized access, provenance, vendor risk, monitoring. Privacy: PHI may have been processed; privacy asks whether information should have been collected, accessed, processed, shared or retained at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Privacy: we need to determine what PHI was processed, why MeridianAssist had access, who could access it, whether disclosure occurred and whether the vendor received or retained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CISO: encryption alone cannot solve unauthorized access or inappropriate data use. We need access controls, retrieval boundaries, logging, testing, evidence preservation and incident-response triggers.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CFO/Operations (~30s): Initiative 2 gives continuous visibility into whether controls work. Tradeoff: some advanced encryption and access-control investment is delayed, but those controls remain required.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Legal (~30s): Meridian cannot transfer responsibility to the vendor. We need documentary evidence on retention, deletion, service improvement, training, subprocessors, access, data separation, incident notification and audit, plus the origin and validation history of the knowledge source. Do not label it malicious without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action (~30s): Authorize restricted continuation, Initiative 2, evidence preservation, investigation, vendor evidence requirements and cross-functional oversight. Expand use only after scope is understood, controls validated, vendor handling documented and monitoring shows controls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MeridianAssist: Executive Decision</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Text 3"/>
          <p:cNvSpPr txBox="1"/>
          <p:nvPr/>
        </p:nvSpPr>
        <p:spPr>
          <a:xfrm>
            <a:off x="457200" y="1097280"/>
            <a:ext cx="8229600" cy="457200"/>
          </a:xfrm>
          <a:prstGeom prst="rect">
            <a:avLst/>
          </a:prstGeom>
          <a:noFill/>
          <a:ln/>
        </p:spPr>
        <p:txBody>
          <a:bodyPr wrap="square" lIns="0" tIns="0" rIns="0" bIns="0" rtlCol="0" anchor="ctr"/>
          <a:lstStyle/>
          <a:p>
            <a:pPr marL="0" indent="0">
              <a:buNone/>
            </a:pPr>
            <a:r>
              <a:rPr lang="en-US" sz="1800" b="1">
                <a:solidFill>
                  <a:srgbClr val="E0A030"/>
                </a:solidFill>
                <a:latin typeface="Calibri" pitchFamily="34" charset="0"/>
                <a:ea typeface="Calibri" pitchFamily="34" charset="-122"/>
                <a:cs typeface="Calibri" pitchFamily="34" charset="-120"/>
              </a:rPr>
              <a:t>Option C: Continue with restrictions and explicit conditions</a:t>
            </a:r>
            <a:endParaRPr lang="en-US" sz="1800"/>
          </a:p>
        </p:txBody>
      </p:sp>
      <p:sp>
        <p:nvSpPr>
          <p:cNvPr id="7" name="Shape 4"/>
          <p:cNvSpPr/>
          <p:nvPr/>
        </p:nvSpPr>
        <p:spPr>
          <a:xfrm>
            <a:off x="457200" y="1691640"/>
            <a:ext cx="8229600" cy="621792"/>
          </a:xfrm>
          <a:prstGeom prst="roundRect">
            <a:avLst>
              <a:gd name="adj" fmla="val 11765"/>
            </a:avLst>
          </a:prstGeom>
          <a:solidFill>
            <a:srgbClr val="16355E"/>
          </a:solidFill>
          <a:ln w="12700">
            <a:solidFill>
              <a:srgbClr val="16355E"/>
            </a:solidFill>
            <a:prstDash val="solid"/>
          </a:ln>
        </p:spPr>
      </p:sp>
      <p:sp>
        <p:nvSpPr>
          <p:cNvPr id="8" name="Text 5"/>
          <p:cNvSpPr txBox="1"/>
          <p:nvPr/>
        </p:nvSpPr>
        <p:spPr>
          <a:xfrm>
            <a:off x="566928" y="1691640"/>
            <a:ext cx="8010144" cy="621792"/>
          </a:xfrm>
          <a:prstGeom prst="rect">
            <a:avLst/>
          </a:prstGeom>
          <a:noFill/>
          <a:ln/>
        </p:spPr>
        <p:txBody>
          <a:bodyPr wrap="square" lIns="0" tIns="0" rIns="0" bIns="0" rtlCol="0" anchor="ctr"/>
          <a:lstStyle/>
          <a:p>
            <a:pPr marL="0" indent="0">
              <a:buNone/>
            </a:pPr>
            <a:r>
              <a:rPr lang="en-US" sz="1700">
                <a:solidFill>
                  <a:srgbClr val="FFFFFF"/>
                </a:solidFill>
                <a:latin typeface="Calibri" pitchFamily="34" charset="0"/>
                <a:ea typeface="Calibri" pitchFamily="34" charset="-122"/>
                <a:cs typeface="Calibri" pitchFamily="34" charset="-120"/>
              </a:rPr>
              <a:t>Restrict sensitive / PHI-related workflows pending investigation and control validation</a:t>
            </a:r>
            <a:endParaRPr lang="en-US" sz="1700"/>
          </a:p>
        </p:txBody>
      </p:sp>
      <p:sp>
        <p:nvSpPr>
          <p:cNvPr id="9" name="Shape 6"/>
          <p:cNvSpPr/>
          <p:nvPr/>
        </p:nvSpPr>
        <p:spPr>
          <a:xfrm>
            <a:off x="457200" y="1691640"/>
            <a:ext cx="73152" cy="621792"/>
          </a:xfrm>
          <a:prstGeom prst="rect">
            <a:avLst/>
          </a:prstGeom>
          <a:solidFill>
            <a:srgbClr val="1F6FB2"/>
          </a:solidFill>
          <a:ln w="12700">
            <a:solidFill>
              <a:srgbClr val="1F6FB2"/>
            </a:solidFill>
            <a:prstDash val="solid"/>
          </a:ln>
        </p:spPr>
      </p:sp>
      <p:sp>
        <p:nvSpPr>
          <p:cNvPr id="10" name="Shape 7"/>
          <p:cNvSpPr/>
          <p:nvPr/>
        </p:nvSpPr>
        <p:spPr>
          <a:xfrm>
            <a:off x="457200" y="2458602"/>
            <a:ext cx="8229600" cy="621792"/>
          </a:xfrm>
          <a:prstGeom prst="roundRect">
            <a:avLst>
              <a:gd name="adj" fmla="val 11765"/>
            </a:avLst>
          </a:prstGeom>
          <a:solidFill>
            <a:srgbClr val="16355E"/>
          </a:solidFill>
          <a:ln w="12700">
            <a:solidFill>
              <a:srgbClr val="16355E"/>
            </a:solidFill>
            <a:prstDash val="solid"/>
          </a:ln>
        </p:spPr>
      </p:sp>
      <p:sp>
        <p:nvSpPr>
          <p:cNvPr id="11" name="Text 8"/>
          <p:cNvSpPr txBox="1"/>
          <p:nvPr/>
        </p:nvSpPr>
        <p:spPr>
          <a:xfrm>
            <a:off x="677684" y="2458602"/>
            <a:ext cx="8010144" cy="621792"/>
          </a:xfrm>
          <a:prstGeom prst="rect">
            <a:avLst/>
          </a:prstGeom>
          <a:noFill/>
          <a:ln/>
        </p:spPr>
        <p:txBody>
          <a:bodyPr wrap="square" lIns="0" tIns="0" rIns="0" bIns="0" rtlCol="0" anchor="ctr"/>
          <a:lstStyle/>
          <a:p>
            <a:pPr marL="0" indent="0">
              <a:buNone/>
            </a:pPr>
            <a:r>
              <a:rPr lang="en-US" sz="1700">
                <a:solidFill>
                  <a:srgbClr val="FFFFFF"/>
                </a:solidFill>
                <a:latin typeface="Calibri" pitchFamily="34" charset="0"/>
                <a:ea typeface="Calibri" pitchFamily="34" charset="-122"/>
                <a:cs typeface="Calibri" pitchFamily="34" charset="-120"/>
              </a:rPr>
              <a:t>Continue evidence preservation and investigation</a:t>
            </a:r>
            <a:endParaRPr lang="en-US" sz="1700"/>
          </a:p>
        </p:txBody>
      </p:sp>
      <p:sp>
        <p:nvSpPr>
          <p:cNvPr id="12" name="Shape 9"/>
          <p:cNvSpPr/>
          <p:nvPr/>
        </p:nvSpPr>
        <p:spPr>
          <a:xfrm>
            <a:off x="426189" y="2458602"/>
            <a:ext cx="73152" cy="621792"/>
          </a:xfrm>
          <a:prstGeom prst="rect">
            <a:avLst/>
          </a:prstGeom>
          <a:solidFill>
            <a:srgbClr val="1F6FB2"/>
          </a:solidFill>
          <a:ln w="12700">
            <a:solidFill>
              <a:srgbClr val="1F6FB2"/>
            </a:solidFill>
            <a:prstDash val="solid"/>
          </a:ln>
        </p:spPr>
      </p:sp>
      <p:sp>
        <p:nvSpPr>
          <p:cNvPr id="13" name="Shape 10"/>
          <p:cNvSpPr/>
          <p:nvPr/>
        </p:nvSpPr>
        <p:spPr>
          <a:xfrm>
            <a:off x="457200" y="3154680"/>
            <a:ext cx="8229600" cy="621792"/>
          </a:xfrm>
          <a:prstGeom prst="roundRect">
            <a:avLst>
              <a:gd name="adj" fmla="val 11765"/>
            </a:avLst>
          </a:prstGeom>
          <a:solidFill>
            <a:srgbClr val="16355E"/>
          </a:solidFill>
          <a:ln w="12700">
            <a:solidFill>
              <a:srgbClr val="16355E"/>
            </a:solidFill>
            <a:prstDash val="solid"/>
          </a:ln>
        </p:spPr>
      </p:sp>
      <p:sp>
        <p:nvSpPr>
          <p:cNvPr id="14" name="Text 11"/>
          <p:cNvSpPr txBox="1"/>
          <p:nvPr/>
        </p:nvSpPr>
        <p:spPr>
          <a:xfrm>
            <a:off x="566928" y="3154680"/>
            <a:ext cx="8010144" cy="621792"/>
          </a:xfrm>
          <a:prstGeom prst="rect">
            <a:avLst/>
          </a:prstGeom>
          <a:noFill/>
          <a:ln/>
        </p:spPr>
        <p:txBody>
          <a:bodyPr wrap="square" lIns="0" tIns="0" rIns="0" bIns="0" rtlCol="0" anchor="ctr"/>
          <a:lstStyle/>
          <a:p>
            <a:r>
              <a:rPr lang="en-US" sz="1700">
                <a:solidFill>
                  <a:srgbClr val="FFFFFF"/>
                </a:solidFill>
                <a:latin typeface="Calibri"/>
                <a:ea typeface="Calibri"/>
                <a:cs typeface="Calibri"/>
              </a:rPr>
              <a:t>Prioritize investment in Initiative 2: Comprehensive Privacy Monitoring and Reporting</a:t>
            </a:r>
            <a:endParaRPr lang="en-US" sz="1700">
              <a:latin typeface="Calibri"/>
              <a:ea typeface="Calibri"/>
              <a:cs typeface="Calibri"/>
            </a:endParaRPr>
          </a:p>
        </p:txBody>
      </p:sp>
      <p:sp>
        <p:nvSpPr>
          <p:cNvPr id="15" name="Shape 12"/>
          <p:cNvSpPr/>
          <p:nvPr/>
        </p:nvSpPr>
        <p:spPr>
          <a:xfrm>
            <a:off x="457200" y="3154680"/>
            <a:ext cx="73152" cy="621792"/>
          </a:xfrm>
          <a:prstGeom prst="rect">
            <a:avLst/>
          </a:prstGeom>
          <a:solidFill>
            <a:srgbClr val="1F6FB2"/>
          </a:solidFill>
          <a:ln w="12700">
            <a:solidFill>
              <a:srgbClr val="1F6FB2"/>
            </a:solidFill>
            <a:prstDash val="solid"/>
          </a:ln>
        </p:spPr>
      </p:sp>
      <p:sp>
        <p:nvSpPr>
          <p:cNvPr id="16" name="Shape 13"/>
          <p:cNvSpPr/>
          <p:nvPr/>
        </p:nvSpPr>
        <p:spPr>
          <a:xfrm>
            <a:off x="457200" y="3886200"/>
            <a:ext cx="8229600" cy="621792"/>
          </a:xfrm>
          <a:prstGeom prst="roundRect">
            <a:avLst>
              <a:gd name="adj" fmla="val 11765"/>
            </a:avLst>
          </a:prstGeom>
          <a:solidFill>
            <a:srgbClr val="16355E"/>
          </a:solidFill>
          <a:ln w="12700">
            <a:solidFill>
              <a:srgbClr val="16355E"/>
            </a:solidFill>
            <a:prstDash val="solid"/>
          </a:ln>
        </p:spPr>
      </p:sp>
      <p:sp>
        <p:nvSpPr>
          <p:cNvPr id="17" name="Text 14"/>
          <p:cNvSpPr txBox="1"/>
          <p:nvPr/>
        </p:nvSpPr>
        <p:spPr>
          <a:xfrm>
            <a:off x="566928" y="3886200"/>
            <a:ext cx="8010144" cy="621792"/>
          </a:xfrm>
          <a:prstGeom prst="rect">
            <a:avLst/>
          </a:prstGeom>
          <a:noFill/>
          <a:ln/>
        </p:spPr>
        <p:txBody>
          <a:bodyPr wrap="square" lIns="0" tIns="0" rIns="0" bIns="0" rtlCol="0" anchor="ctr"/>
          <a:lstStyle/>
          <a:p>
            <a:pPr marL="0" indent="0">
              <a:buNone/>
            </a:pPr>
            <a:r>
              <a:rPr lang="en-US" sz="1700">
                <a:solidFill>
                  <a:srgbClr val="FFFFFF"/>
                </a:solidFill>
                <a:latin typeface="Calibri" pitchFamily="34" charset="0"/>
                <a:ea typeface="Calibri" pitchFamily="34" charset="-122"/>
                <a:cs typeface="Calibri" pitchFamily="34" charset="-120"/>
              </a:rPr>
              <a:t>Leadership retains authority to suspend use if decision-change triggers occur</a:t>
            </a:r>
            <a:endParaRPr lang="en-US" sz="1700"/>
          </a:p>
        </p:txBody>
      </p:sp>
      <p:sp>
        <p:nvSpPr>
          <p:cNvPr id="18" name="Shape 15"/>
          <p:cNvSpPr/>
          <p:nvPr/>
        </p:nvSpPr>
        <p:spPr>
          <a:xfrm>
            <a:off x="457200" y="3886200"/>
            <a:ext cx="73152" cy="621792"/>
          </a:xfrm>
          <a:prstGeom prst="rect">
            <a:avLst/>
          </a:prstGeom>
          <a:solidFill>
            <a:srgbClr val="1F6FB2"/>
          </a:solidFill>
          <a:ln w="12700">
            <a:solidFill>
              <a:srgbClr val="1F6FB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57C446-A6AF-4B7D-04A0-80D508D4D569}"/>
              </a:ext>
            </a:extLst>
          </p:cNvPr>
          <p:cNvPicPr>
            <a:picLocks noChangeAspect="1"/>
          </p:cNvPicPr>
          <p:nvPr/>
        </p:nvPicPr>
        <p:blipFill>
          <a:blip r:embed="rId2"/>
          <a:stretch>
            <a:fillRect/>
          </a:stretch>
        </p:blipFill>
        <p:spPr>
          <a:xfrm>
            <a:off x="-2658" y="121944"/>
            <a:ext cx="8921424" cy="5018699"/>
          </a:xfrm>
          <a:prstGeom prst="rect">
            <a:avLst/>
          </a:prstGeom>
        </p:spPr>
      </p:pic>
    </p:spTree>
    <p:extLst>
      <p:ext uri="{BB962C8B-B14F-4D97-AF65-F5344CB8AC3E}">
        <p14:creationId xmlns:p14="http://schemas.microsoft.com/office/powerpoint/2010/main" val="1357074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0B1F3A"/>
                </a:solidFill>
                <a:latin typeface="Calibri" pitchFamily="34" charset="0"/>
                <a:ea typeface="Calibri" pitchFamily="34" charset="-122"/>
                <a:cs typeface="Calibri" pitchFamily="34" charset="-120"/>
              </a:rPr>
              <a:t>What Changed?</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Shape 3"/>
          <p:cNvSpPr/>
          <p:nvPr/>
        </p:nvSpPr>
        <p:spPr>
          <a:xfrm>
            <a:off x="457200" y="1280160"/>
            <a:ext cx="2514600" cy="1051560"/>
          </a:xfrm>
          <a:prstGeom prst="roundRect">
            <a:avLst>
              <a:gd name="adj" fmla="val 6957"/>
            </a:avLst>
          </a:prstGeom>
          <a:solidFill>
            <a:srgbClr val="EAF1F8"/>
          </a:solidFill>
          <a:ln w="12700">
            <a:solidFill>
              <a:srgbClr val="EAF1F8"/>
            </a:solidFill>
            <a:prstDash val="solid"/>
          </a:ln>
        </p:spPr>
      </p:sp>
      <p:sp>
        <p:nvSpPr>
          <p:cNvPr id="7" name="Text 4"/>
          <p:cNvSpPr txBox="1"/>
          <p:nvPr/>
        </p:nvSpPr>
        <p:spPr>
          <a:xfrm>
            <a:off x="566928" y="1280160"/>
            <a:ext cx="2295144" cy="1051560"/>
          </a:xfrm>
          <a:prstGeom prst="rect">
            <a:avLst/>
          </a:prstGeom>
          <a:noFill/>
          <a:ln/>
        </p:spPr>
        <p:txBody>
          <a:bodyPr wrap="square" lIns="0" tIns="0" rIns="0" bIns="0" rtlCol="0" anchor="ctr"/>
          <a:lstStyle/>
          <a:p>
            <a:pPr marL="0" indent="0">
              <a:buNone/>
            </a:pPr>
            <a:r>
              <a:rPr lang="en-US" sz="1500" b="1">
                <a:solidFill>
                  <a:srgbClr val="0B1F3A"/>
                </a:solidFill>
                <a:latin typeface="Calibri" pitchFamily="34" charset="0"/>
                <a:ea typeface="Calibri" pitchFamily="34" charset="-122"/>
                <a:cs typeface="Calibri" pitchFamily="34" charset="-120"/>
              </a:rPr>
              <a:t>Possible sensitive-data exposure</a:t>
            </a:r>
            <a:endParaRPr lang="en-US" sz="1500"/>
          </a:p>
        </p:txBody>
      </p:sp>
      <p:sp>
        <p:nvSpPr>
          <p:cNvPr id="8" name="Shape 5"/>
          <p:cNvSpPr/>
          <p:nvPr/>
        </p:nvSpPr>
        <p:spPr>
          <a:xfrm>
            <a:off x="548640" y="2377440"/>
            <a:ext cx="1097280" cy="237744"/>
          </a:xfrm>
          <a:prstGeom prst="roundRect">
            <a:avLst>
              <a:gd name="adj" fmla="val 38462"/>
            </a:avLst>
          </a:prstGeom>
          <a:solidFill>
            <a:srgbClr val="E0A030"/>
          </a:solidFill>
          <a:ln w="12700">
            <a:solidFill>
              <a:srgbClr val="E0A030"/>
            </a:solidFill>
            <a:prstDash val="solid"/>
          </a:ln>
        </p:spPr>
      </p:sp>
      <p:sp>
        <p:nvSpPr>
          <p:cNvPr id="9" name="Text 6"/>
          <p:cNvSpPr txBox="1"/>
          <p:nvPr/>
        </p:nvSpPr>
        <p:spPr>
          <a:xfrm>
            <a:off x="548640" y="2377440"/>
            <a:ext cx="109728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Possible</a:t>
            </a:r>
            <a:endParaRPr lang="en-US" sz="1000"/>
          </a:p>
        </p:txBody>
      </p:sp>
      <p:sp>
        <p:nvSpPr>
          <p:cNvPr id="10" name="Shape 7"/>
          <p:cNvSpPr/>
          <p:nvPr/>
        </p:nvSpPr>
        <p:spPr>
          <a:xfrm>
            <a:off x="3246120" y="1280160"/>
            <a:ext cx="2514600" cy="1051560"/>
          </a:xfrm>
          <a:prstGeom prst="roundRect">
            <a:avLst>
              <a:gd name="adj" fmla="val 6957"/>
            </a:avLst>
          </a:prstGeom>
          <a:solidFill>
            <a:srgbClr val="EAF1F8"/>
          </a:solidFill>
          <a:ln w="12700">
            <a:solidFill>
              <a:srgbClr val="EAF1F8"/>
            </a:solidFill>
            <a:prstDash val="solid"/>
          </a:ln>
        </p:spPr>
      </p:sp>
      <p:sp>
        <p:nvSpPr>
          <p:cNvPr id="11" name="Text 8"/>
          <p:cNvSpPr txBox="1"/>
          <p:nvPr/>
        </p:nvSpPr>
        <p:spPr>
          <a:xfrm>
            <a:off x="3355848" y="1280160"/>
            <a:ext cx="2295144" cy="1051560"/>
          </a:xfrm>
          <a:prstGeom prst="rect">
            <a:avLst/>
          </a:prstGeom>
          <a:noFill/>
          <a:ln/>
        </p:spPr>
        <p:txBody>
          <a:bodyPr wrap="square" lIns="0" tIns="0" rIns="0" bIns="0" rtlCol="0" anchor="ctr"/>
          <a:lstStyle/>
          <a:p>
            <a:pPr marL="0" indent="0">
              <a:buNone/>
            </a:pPr>
            <a:r>
              <a:rPr lang="en-US" sz="1500" b="1">
                <a:solidFill>
                  <a:srgbClr val="0B1F3A"/>
                </a:solidFill>
                <a:latin typeface="Calibri" pitchFamily="34" charset="0"/>
                <a:ea typeface="Calibri" pitchFamily="34" charset="-122"/>
                <a:cs typeface="Calibri" pitchFamily="34" charset="-120"/>
              </a:rPr>
              <a:t>Apparent patient information unrelated to the question</a:t>
            </a:r>
            <a:endParaRPr lang="en-US" sz="1500"/>
          </a:p>
        </p:txBody>
      </p:sp>
      <p:sp>
        <p:nvSpPr>
          <p:cNvPr id="12" name="Shape 9"/>
          <p:cNvSpPr/>
          <p:nvPr/>
        </p:nvSpPr>
        <p:spPr>
          <a:xfrm>
            <a:off x="3337560" y="2377440"/>
            <a:ext cx="1097280" cy="237744"/>
          </a:xfrm>
          <a:prstGeom prst="roundRect">
            <a:avLst>
              <a:gd name="adj" fmla="val 38462"/>
            </a:avLst>
          </a:prstGeom>
          <a:solidFill>
            <a:srgbClr val="E0A030"/>
          </a:solidFill>
          <a:ln w="12700">
            <a:solidFill>
              <a:srgbClr val="E0A030"/>
            </a:solidFill>
            <a:prstDash val="solid"/>
          </a:ln>
        </p:spPr>
      </p:sp>
      <p:sp>
        <p:nvSpPr>
          <p:cNvPr id="13" name="Text 10"/>
          <p:cNvSpPr txBox="1"/>
          <p:nvPr/>
        </p:nvSpPr>
        <p:spPr>
          <a:xfrm>
            <a:off x="3337560" y="2377440"/>
            <a:ext cx="109728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Apparent</a:t>
            </a:r>
            <a:endParaRPr lang="en-US" sz="1000"/>
          </a:p>
        </p:txBody>
      </p:sp>
      <p:sp>
        <p:nvSpPr>
          <p:cNvPr id="14" name="Shape 11"/>
          <p:cNvSpPr/>
          <p:nvPr/>
        </p:nvSpPr>
        <p:spPr>
          <a:xfrm>
            <a:off x="6035040" y="1280160"/>
            <a:ext cx="2514600" cy="1051560"/>
          </a:xfrm>
          <a:prstGeom prst="roundRect">
            <a:avLst>
              <a:gd name="adj" fmla="val 6957"/>
            </a:avLst>
          </a:prstGeom>
          <a:solidFill>
            <a:srgbClr val="EAF1F8"/>
          </a:solidFill>
          <a:ln w="12700">
            <a:solidFill>
              <a:srgbClr val="EAF1F8"/>
            </a:solidFill>
            <a:prstDash val="solid"/>
          </a:ln>
        </p:spPr>
      </p:sp>
      <p:sp>
        <p:nvSpPr>
          <p:cNvPr id="15" name="Text 12"/>
          <p:cNvSpPr txBox="1"/>
          <p:nvPr/>
        </p:nvSpPr>
        <p:spPr>
          <a:xfrm>
            <a:off x="6144768" y="1280160"/>
            <a:ext cx="2295144" cy="1051560"/>
          </a:xfrm>
          <a:prstGeom prst="rect">
            <a:avLst/>
          </a:prstGeom>
          <a:noFill/>
          <a:ln/>
        </p:spPr>
        <p:txBody>
          <a:bodyPr wrap="square" lIns="0" tIns="0" rIns="0" bIns="0" rtlCol="0" anchor="ctr"/>
          <a:lstStyle/>
          <a:p>
            <a:pPr marL="0" indent="0">
              <a:buNone/>
            </a:pPr>
            <a:r>
              <a:rPr lang="en-US" sz="1500" b="1">
                <a:solidFill>
                  <a:srgbClr val="0B1F3A"/>
                </a:solidFill>
                <a:latin typeface="Calibri" pitchFamily="34" charset="0"/>
                <a:ea typeface="Calibri" pitchFamily="34" charset="-122"/>
                <a:cs typeface="Calibri" pitchFamily="34" charset="-120"/>
              </a:rPr>
              <a:t>Vendor retention / service-improvement uncertainty</a:t>
            </a:r>
            <a:endParaRPr lang="en-US" sz="1500"/>
          </a:p>
        </p:txBody>
      </p:sp>
      <p:sp>
        <p:nvSpPr>
          <p:cNvPr id="16" name="Shape 13"/>
          <p:cNvSpPr/>
          <p:nvPr/>
        </p:nvSpPr>
        <p:spPr>
          <a:xfrm>
            <a:off x="6126480" y="2377440"/>
            <a:ext cx="1097280" cy="237744"/>
          </a:xfrm>
          <a:prstGeom prst="roundRect">
            <a:avLst>
              <a:gd name="adj" fmla="val 38462"/>
            </a:avLst>
          </a:prstGeom>
          <a:solidFill>
            <a:srgbClr val="E0A030"/>
          </a:solidFill>
          <a:ln w="12700">
            <a:solidFill>
              <a:srgbClr val="E0A030"/>
            </a:solidFill>
            <a:prstDash val="solid"/>
          </a:ln>
        </p:spPr>
      </p:sp>
      <p:sp>
        <p:nvSpPr>
          <p:cNvPr id="17" name="Text 14"/>
          <p:cNvSpPr txBox="1"/>
          <p:nvPr/>
        </p:nvSpPr>
        <p:spPr>
          <a:xfrm>
            <a:off x="6126480" y="2377440"/>
            <a:ext cx="109728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Unknown</a:t>
            </a:r>
            <a:endParaRPr lang="en-US" sz="1000"/>
          </a:p>
        </p:txBody>
      </p:sp>
      <p:sp>
        <p:nvSpPr>
          <p:cNvPr id="18" name="Shape 15"/>
          <p:cNvSpPr/>
          <p:nvPr/>
        </p:nvSpPr>
        <p:spPr>
          <a:xfrm>
            <a:off x="457200" y="2788920"/>
            <a:ext cx="2514600" cy="1051560"/>
          </a:xfrm>
          <a:prstGeom prst="roundRect">
            <a:avLst>
              <a:gd name="adj" fmla="val 6957"/>
            </a:avLst>
          </a:prstGeom>
          <a:solidFill>
            <a:srgbClr val="EAF1F8"/>
          </a:solidFill>
          <a:ln w="12700">
            <a:solidFill>
              <a:srgbClr val="EAF1F8"/>
            </a:solidFill>
            <a:prstDash val="solid"/>
          </a:ln>
        </p:spPr>
      </p:sp>
      <p:sp>
        <p:nvSpPr>
          <p:cNvPr id="19" name="Text 16"/>
          <p:cNvSpPr txBox="1"/>
          <p:nvPr/>
        </p:nvSpPr>
        <p:spPr>
          <a:xfrm>
            <a:off x="566928" y="2788920"/>
            <a:ext cx="2295144" cy="1051560"/>
          </a:xfrm>
          <a:prstGeom prst="rect">
            <a:avLst/>
          </a:prstGeom>
          <a:noFill/>
          <a:ln/>
        </p:spPr>
        <p:txBody>
          <a:bodyPr wrap="square" lIns="0" tIns="0" rIns="0" bIns="0" rtlCol="0" anchor="ctr"/>
          <a:lstStyle/>
          <a:p>
            <a:pPr marL="0" indent="0">
              <a:buNone/>
            </a:pPr>
            <a:r>
              <a:rPr lang="en-US" sz="1500" b="1">
                <a:solidFill>
                  <a:srgbClr val="0B1F3A"/>
                </a:solidFill>
                <a:latin typeface="Calibri" pitchFamily="34" charset="0"/>
                <a:ea typeface="Calibri" pitchFamily="34" charset="-122"/>
                <a:cs typeface="Calibri" pitchFamily="34" charset="-120"/>
              </a:rPr>
              <a:t>Unverified knowledge source</a:t>
            </a:r>
            <a:endParaRPr lang="en-US" sz="1500"/>
          </a:p>
        </p:txBody>
      </p:sp>
      <p:sp>
        <p:nvSpPr>
          <p:cNvPr id="20" name="Shape 17"/>
          <p:cNvSpPr/>
          <p:nvPr/>
        </p:nvSpPr>
        <p:spPr>
          <a:xfrm>
            <a:off x="548640" y="3886200"/>
            <a:ext cx="1097280" cy="237744"/>
          </a:xfrm>
          <a:prstGeom prst="roundRect">
            <a:avLst>
              <a:gd name="adj" fmla="val 38462"/>
            </a:avLst>
          </a:prstGeom>
          <a:solidFill>
            <a:srgbClr val="E0A030"/>
          </a:solidFill>
          <a:ln w="12700">
            <a:solidFill>
              <a:srgbClr val="E0A030"/>
            </a:solidFill>
            <a:prstDash val="solid"/>
          </a:ln>
        </p:spPr>
      </p:sp>
      <p:sp>
        <p:nvSpPr>
          <p:cNvPr id="21" name="Text 18"/>
          <p:cNvSpPr txBox="1"/>
          <p:nvPr/>
        </p:nvSpPr>
        <p:spPr>
          <a:xfrm>
            <a:off x="548640" y="3886200"/>
            <a:ext cx="109728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Unverified</a:t>
            </a:r>
            <a:endParaRPr lang="en-US" sz="1000"/>
          </a:p>
        </p:txBody>
      </p:sp>
      <p:sp>
        <p:nvSpPr>
          <p:cNvPr id="22" name="Shape 19"/>
          <p:cNvSpPr/>
          <p:nvPr/>
        </p:nvSpPr>
        <p:spPr>
          <a:xfrm>
            <a:off x="3246120" y="2788920"/>
            <a:ext cx="2514600" cy="1051560"/>
          </a:xfrm>
          <a:prstGeom prst="roundRect">
            <a:avLst>
              <a:gd name="adj" fmla="val 6957"/>
            </a:avLst>
          </a:prstGeom>
          <a:solidFill>
            <a:srgbClr val="EAF1F8"/>
          </a:solidFill>
          <a:ln w="12700">
            <a:solidFill>
              <a:srgbClr val="EAF1F8"/>
            </a:solidFill>
            <a:prstDash val="solid"/>
          </a:ln>
        </p:spPr>
      </p:sp>
      <p:sp>
        <p:nvSpPr>
          <p:cNvPr id="23" name="Text 20"/>
          <p:cNvSpPr txBox="1"/>
          <p:nvPr/>
        </p:nvSpPr>
        <p:spPr>
          <a:xfrm>
            <a:off x="3355848" y="2788920"/>
            <a:ext cx="2295144" cy="1051560"/>
          </a:xfrm>
          <a:prstGeom prst="rect">
            <a:avLst/>
          </a:prstGeom>
          <a:noFill/>
          <a:ln/>
        </p:spPr>
        <p:txBody>
          <a:bodyPr wrap="square" lIns="0" tIns="0" rIns="0" bIns="0" rtlCol="0" anchor="ctr"/>
          <a:lstStyle/>
          <a:p>
            <a:pPr marL="0" indent="0">
              <a:buNone/>
            </a:pPr>
            <a:r>
              <a:rPr lang="en-US" sz="1500" b="1">
                <a:solidFill>
                  <a:srgbClr val="0B1F3A"/>
                </a:solidFill>
                <a:latin typeface="Calibri" pitchFamily="34" charset="0"/>
                <a:ea typeface="Calibri" pitchFamily="34" charset="-122"/>
                <a:cs typeface="Calibri" pitchFamily="34" charset="-120"/>
              </a:rPr>
              <a:t>Possible PHI processing</a:t>
            </a:r>
            <a:endParaRPr lang="en-US" sz="1500"/>
          </a:p>
        </p:txBody>
      </p:sp>
      <p:sp>
        <p:nvSpPr>
          <p:cNvPr id="24" name="Shape 21"/>
          <p:cNvSpPr/>
          <p:nvPr/>
        </p:nvSpPr>
        <p:spPr>
          <a:xfrm>
            <a:off x="3337560" y="3886200"/>
            <a:ext cx="1097280" cy="237744"/>
          </a:xfrm>
          <a:prstGeom prst="roundRect">
            <a:avLst>
              <a:gd name="adj" fmla="val 38462"/>
            </a:avLst>
          </a:prstGeom>
          <a:solidFill>
            <a:srgbClr val="E0A030"/>
          </a:solidFill>
          <a:ln w="12700">
            <a:solidFill>
              <a:srgbClr val="E0A030"/>
            </a:solidFill>
            <a:prstDash val="solid"/>
          </a:ln>
        </p:spPr>
      </p:sp>
      <p:sp>
        <p:nvSpPr>
          <p:cNvPr id="25" name="Text 22"/>
          <p:cNvSpPr txBox="1"/>
          <p:nvPr/>
        </p:nvSpPr>
        <p:spPr>
          <a:xfrm>
            <a:off x="3337560" y="3886200"/>
            <a:ext cx="109728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Possible</a:t>
            </a:r>
            <a:endParaRPr lang="en-US" sz="1000"/>
          </a:p>
        </p:txBody>
      </p:sp>
      <p:sp>
        <p:nvSpPr>
          <p:cNvPr id="26" name="Shape 23"/>
          <p:cNvSpPr/>
          <p:nvPr/>
        </p:nvSpPr>
        <p:spPr>
          <a:xfrm>
            <a:off x="6035040" y="2788920"/>
            <a:ext cx="2514600" cy="1051560"/>
          </a:xfrm>
          <a:prstGeom prst="roundRect">
            <a:avLst>
              <a:gd name="adj" fmla="val 6957"/>
            </a:avLst>
          </a:prstGeom>
          <a:solidFill>
            <a:srgbClr val="EAF1F8"/>
          </a:solidFill>
          <a:ln w="12700">
            <a:solidFill>
              <a:srgbClr val="EAF1F8"/>
            </a:solidFill>
            <a:prstDash val="solid"/>
          </a:ln>
        </p:spPr>
      </p:sp>
      <p:sp>
        <p:nvSpPr>
          <p:cNvPr id="27" name="Text 24"/>
          <p:cNvSpPr txBox="1"/>
          <p:nvPr/>
        </p:nvSpPr>
        <p:spPr>
          <a:xfrm>
            <a:off x="6144768" y="2788920"/>
            <a:ext cx="2295144" cy="1051560"/>
          </a:xfrm>
          <a:prstGeom prst="rect">
            <a:avLst/>
          </a:prstGeom>
          <a:noFill/>
          <a:ln/>
        </p:spPr>
        <p:txBody>
          <a:bodyPr wrap="square" lIns="0" tIns="0" rIns="0" bIns="0" rtlCol="0" anchor="ctr"/>
          <a:lstStyle/>
          <a:p>
            <a:pPr marL="0" indent="0">
              <a:buNone/>
            </a:pPr>
            <a:r>
              <a:rPr lang="en-US" sz="1500" b="1">
                <a:solidFill>
                  <a:srgbClr val="0B1F3A"/>
                </a:solidFill>
                <a:latin typeface="Calibri" pitchFamily="34" charset="0"/>
                <a:ea typeface="Calibri" pitchFamily="34" charset="-122"/>
                <a:cs typeface="Calibri" pitchFamily="34" charset="-120"/>
              </a:rPr>
              <a:t>Need for monitoring and reporting</a:t>
            </a:r>
            <a:endParaRPr lang="en-US" sz="1500"/>
          </a:p>
        </p:txBody>
      </p:sp>
      <p:sp>
        <p:nvSpPr>
          <p:cNvPr id="28" name="Shape 25"/>
          <p:cNvSpPr/>
          <p:nvPr/>
        </p:nvSpPr>
        <p:spPr>
          <a:xfrm>
            <a:off x="6126480" y="3886200"/>
            <a:ext cx="1097280" cy="237744"/>
          </a:xfrm>
          <a:prstGeom prst="roundRect">
            <a:avLst>
              <a:gd name="adj" fmla="val 38462"/>
            </a:avLst>
          </a:prstGeom>
          <a:solidFill>
            <a:srgbClr val="2A9D8F"/>
          </a:solidFill>
          <a:ln w="12700">
            <a:solidFill>
              <a:srgbClr val="2A9D8F"/>
            </a:solidFill>
            <a:prstDash val="solid"/>
          </a:ln>
        </p:spPr>
      </p:sp>
      <p:sp>
        <p:nvSpPr>
          <p:cNvPr id="29" name="Text 26"/>
          <p:cNvSpPr txBox="1"/>
          <p:nvPr/>
        </p:nvSpPr>
        <p:spPr>
          <a:xfrm>
            <a:off x="6126480" y="3886200"/>
            <a:ext cx="109728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Needed</a:t>
            </a:r>
            <a:endParaRPr lang="en-US" sz="1000"/>
          </a:p>
        </p:txBody>
      </p:sp>
      <p:sp>
        <p:nvSpPr>
          <p:cNvPr id="30" name="Text 27"/>
          <p:cNvSpPr txBox="1"/>
          <p:nvPr/>
        </p:nvSpPr>
        <p:spPr>
          <a:xfrm>
            <a:off x="457200" y="4389120"/>
            <a:ext cx="8229600" cy="274320"/>
          </a:xfrm>
          <a:prstGeom prst="rect">
            <a:avLst/>
          </a:prstGeom>
          <a:noFill/>
          <a:ln/>
        </p:spPr>
        <p:txBody>
          <a:bodyPr wrap="square" lIns="0" tIns="0" rIns="0" bIns="0" rtlCol="0" anchor="ctr"/>
          <a:lstStyle/>
          <a:p>
            <a:pPr marL="0" indent="0">
              <a:buNone/>
            </a:pPr>
            <a:r>
              <a:rPr lang="en-US" sz="1300" i="1">
                <a:solidFill>
                  <a:srgbClr val="5B6B7F"/>
                </a:solidFill>
                <a:latin typeface="Calibri" pitchFamily="34" charset="0"/>
                <a:ea typeface="Calibri" pitchFamily="34" charset="-122"/>
                <a:cs typeface="Calibri" pitchFamily="34" charset="-120"/>
              </a:rPr>
              <a:t>Nothing here is a confirmed breach finding: each item is indicated, apparent or unresolved.</a:t>
            </a: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0B1F3A"/>
                </a:solidFill>
                <a:latin typeface="Calibri" pitchFamily="34" charset="0"/>
                <a:ea typeface="Calibri" pitchFamily="34" charset="-122"/>
                <a:cs typeface="Calibri" pitchFamily="34" charset="-120"/>
              </a:rPr>
              <a:t>Security and Privacy Risk</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Shape 3"/>
          <p:cNvSpPr/>
          <p:nvPr/>
        </p:nvSpPr>
        <p:spPr>
          <a:xfrm>
            <a:off x="457200" y="1188720"/>
            <a:ext cx="4023360" cy="411480"/>
          </a:xfrm>
          <a:prstGeom prst="rect">
            <a:avLst/>
          </a:prstGeom>
          <a:solidFill>
            <a:srgbClr val="1F6FB2"/>
          </a:solidFill>
          <a:ln w="12700">
            <a:solidFill>
              <a:srgbClr val="1F6FB2"/>
            </a:solidFill>
            <a:prstDash val="solid"/>
          </a:ln>
        </p:spPr>
      </p:sp>
      <p:sp>
        <p:nvSpPr>
          <p:cNvPr id="7" name="Text 4"/>
          <p:cNvSpPr txBox="1"/>
          <p:nvPr/>
        </p:nvSpPr>
        <p:spPr>
          <a:xfrm>
            <a:off x="594360" y="1188720"/>
            <a:ext cx="3657600" cy="41148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Security</a:t>
            </a:r>
            <a:endParaRPr lang="en-US" sz="1600"/>
          </a:p>
        </p:txBody>
      </p:sp>
      <p:sp>
        <p:nvSpPr>
          <p:cNvPr id="8" name="Text 5"/>
          <p:cNvSpPr txBox="1"/>
          <p:nvPr/>
        </p:nvSpPr>
        <p:spPr>
          <a:xfrm>
            <a:off x="548640" y="1691640"/>
            <a:ext cx="3840480" cy="2011680"/>
          </a:xfrm>
          <a:prstGeom prst="rect">
            <a:avLst/>
          </a:prstGeom>
          <a:noFill/>
          <a:ln/>
        </p:spPr>
        <p:txBody>
          <a:bodyPr wrap="square" lIns="0" tIns="0" rIns="0" bIns="0" rtlCol="0" anchor="ctr"/>
          <a:lstStyle/>
          <a:p>
            <a:pPr marL="342900" indent="-342900">
              <a:spcAft>
                <a:spcPts val="400"/>
              </a:spcAft>
              <a:buSzPct val="100000"/>
              <a:buChar char="•"/>
            </a:pPr>
            <a:r>
              <a:rPr lang="en-US" sz="1400">
                <a:solidFill>
                  <a:srgbClr val="0B1F3A"/>
                </a:solidFill>
                <a:latin typeface="Calibri"/>
                <a:ea typeface="Calibri"/>
                <a:cs typeface="Calibri"/>
              </a:rPr>
              <a:t>Possible data leakage</a:t>
            </a:r>
            <a:endParaRPr lang="en-US" sz="1400">
              <a:latin typeface="Calibri"/>
              <a:ea typeface="Calibri"/>
              <a:cs typeface="Calibri"/>
            </a:endParaRPr>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Prompt injection / manipulation</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Authorization / access-control failure</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Data integrity / provenance</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Monitoring / logging</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Third-party risk</a:t>
            </a:r>
            <a:endParaRPr lang="en-US" sz="1400"/>
          </a:p>
        </p:txBody>
      </p:sp>
      <p:sp>
        <p:nvSpPr>
          <p:cNvPr id="9" name="Shape 6"/>
          <p:cNvSpPr/>
          <p:nvPr/>
        </p:nvSpPr>
        <p:spPr>
          <a:xfrm>
            <a:off x="4663440" y="1188720"/>
            <a:ext cx="4023360" cy="411480"/>
          </a:xfrm>
          <a:prstGeom prst="rect">
            <a:avLst/>
          </a:prstGeom>
          <a:solidFill>
            <a:srgbClr val="2A9D8F"/>
          </a:solidFill>
          <a:ln w="12700">
            <a:solidFill>
              <a:srgbClr val="2A9D8F"/>
            </a:solidFill>
            <a:prstDash val="solid"/>
          </a:ln>
        </p:spPr>
      </p:sp>
      <p:sp>
        <p:nvSpPr>
          <p:cNvPr id="10" name="Text 7"/>
          <p:cNvSpPr txBox="1"/>
          <p:nvPr/>
        </p:nvSpPr>
        <p:spPr>
          <a:xfrm>
            <a:off x="4800600" y="1188720"/>
            <a:ext cx="3657600" cy="41148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Privacy</a:t>
            </a:r>
            <a:endParaRPr lang="en-US" sz="1600"/>
          </a:p>
        </p:txBody>
      </p:sp>
      <p:sp>
        <p:nvSpPr>
          <p:cNvPr id="11" name="Text 8"/>
          <p:cNvSpPr txBox="1"/>
          <p:nvPr/>
        </p:nvSpPr>
        <p:spPr>
          <a:xfrm>
            <a:off x="4754880" y="1691640"/>
            <a:ext cx="3840480" cy="2011680"/>
          </a:xfrm>
          <a:prstGeom prst="rect">
            <a:avLst/>
          </a:prstGeom>
          <a:noFill/>
          <a:ln/>
        </p:spPr>
        <p:txBody>
          <a:bodyPr wrap="square" lIns="0" tIns="0" rIns="0" bIns="0" rtlCol="0" anchor="ctr"/>
          <a:lstStyle/>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PHI processing</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Purpose and authorization</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Data minimization</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Retention</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Vendor access / use</a:t>
            </a:r>
            <a:endParaRPr lang="en-US" sz="1400"/>
          </a:p>
          <a:p>
            <a:pPr marL="342900" indent="-342900">
              <a:spcAft>
                <a:spcPts val="400"/>
              </a:spcAft>
              <a:buSzPct val="100000"/>
              <a:buChar char="•"/>
            </a:pPr>
            <a:r>
              <a:rPr lang="en-US" sz="1400">
                <a:solidFill>
                  <a:srgbClr val="0B1F3A"/>
                </a:solidFill>
                <a:latin typeface="Calibri" pitchFamily="34" charset="0"/>
                <a:ea typeface="Calibri" pitchFamily="34" charset="-122"/>
                <a:cs typeface="Calibri" pitchFamily="34" charset="-120"/>
              </a:rPr>
              <a:t>Disclosure</a:t>
            </a:r>
            <a:endParaRPr lang="en-US" sz="1400"/>
          </a:p>
        </p:txBody>
      </p:sp>
      <p:sp>
        <p:nvSpPr>
          <p:cNvPr id="12" name="Shape 9"/>
          <p:cNvSpPr/>
          <p:nvPr/>
        </p:nvSpPr>
        <p:spPr>
          <a:xfrm>
            <a:off x="457200" y="3794760"/>
            <a:ext cx="8229600" cy="822960"/>
          </a:xfrm>
          <a:prstGeom prst="roundRect">
            <a:avLst>
              <a:gd name="adj" fmla="val 8889"/>
            </a:avLst>
          </a:prstGeom>
          <a:solidFill>
            <a:srgbClr val="0B1F3A"/>
          </a:solidFill>
          <a:ln w="12700">
            <a:solidFill>
              <a:srgbClr val="0B1F3A"/>
            </a:solidFill>
            <a:prstDash val="solid"/>
          </a:ln>
        </p:spPr>
      </p:sp>
      <p:sp>
        <p:nvSpPr>
          <p:cNvPr id="13" name="Text 10"/>
          <p:cNvSpPr txBox="1"/>
          <p:nvPr/>
        </p:nvSpPr>
        <p:spPr>
          <a:xfrm>
            <a:off x="566928" y="3794760"/>
            <a:ext cx="8010144" cy="822960"/>
          </a:xfrm>
          <a:prstGeom prst="rect">
            <a:avLst/>
          </a:prstGeom>
          <a:noFill/>
          <a:ln/>
        </p:spPr>
        <p:txBody>
          <a:bodyPr wrap="square" lIns="0" tIns="0" rIns="0" bIns="0" rtlCol="0" anchor="ctr"/>
          <a:lstStyle/>
          <a:p>
            <a:pPr marL="0" indent="0">
              <a:buNone/>
            </a:pPr>
            <a:r>
              <a:rPr lang="en-US" sz="1300">
                <a:solidFill>
                  <a:srgbClr val="FFFFFF"/>
                </a:solidFill>
                <a:latin typeface="Calibri" pitchFamily="34" charset="0"/>
                <a:ea typeface="Calibri" pitchFamily="34" charset="-122"/>
                <a:cs typeface="Calibri" pitchFamily="34" charset="-120"/>
              </a:rPr>
              <a:t>Security asks how information is protected. Privacy asks whether and under what conditions information should be collected, accessed, processed, shared, or retained.</a:t>
            </a:r>
            <a:endParaRPr lang="en-US"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0B1F3A"/>
                </a:solidFill>
                <a:latin typeface="Calibri" pitchFamily="34" charset="0"/>
                <a:ea typeface="Calibri" pitchFamily="34" charset="-122"/>
                <a:cs typeface="Calibri" pitchFamily="34" charset="-120"/>
              </a:rPr>
              <a:t>What We Still Don’t Know</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Shape 3"/>
          <p:cNvSpPr/>
          <p:nvPr/>
        </p:nvSpPr>
        <p:spPr>
          <a:xfrm>
            <a:off x="457200" y="1188720"/>
            <a:ext cx="1965960" cy="1097280"/>
          </a:xfrm>
          <a:prstGeom prst="roundRect">
            <a:avLst>
              <a:gd name="adj" fmla="val 6667"/>
            </a:avLst>
          </a:prstGeom>
          <a:solidFill>
            <a:srgbClr val="EAF1F8"/>
          </a:solidFill>
          <a:ln w="12700">
            <a:solidFill>
              <a:srgbClr val="EAF1F8"/>
            </a:solidFill>
            <a:prstDash val="solid"/>
          </a:ln>
        </p:spPr>
      </p:sp>
      <p:sp>
        <p:nvSpPr>
          <p:cNvPr id="7" name="Text 4"/>
          <p:cNvSpPr txBox="1"/>
          <p:nvPr/>
        </p:nvSpPr>
        <p:spPr>
          <a:xfrm>
            <a:off x="566928" y="118872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How much data was affected?</a:t>
            </a:r>
            <a:endParaRPr lang="en-US" sz="1300"/>
          </a:p>
        </p:txBody>
      </p:sp>
      <p:sp>
        <p:nvSpPr>
          <p:cNvPr id="8" name="Shape 5"/>
          <p:cNvSpPr/>
          <p:nvPr/>
        </p:nvSpPr>
        <p:spPr>
          <a:xfrm>
            <a:off x="457200" y="1188720"/>
            <a:ext cx="1965960" cy="64008"/>
          </a:xfrm>
          <a:prstGeom prst="rect">
            <a:avLst/>
          </a:prstGeom>
          <a:solidFill>
            <a:srgbClr val="E0A030"/>
          </a:solidFill>
          <a:ln w="12700">
            <a:solidFill>
              <a:srgbClr val="E0A030"/>
            </a:solidFill>
            <a:prstDash val="solid"/>
          </a:ln>
        </p:spPr>
      </p:sp>
      <p:sp>
        <p:nvSpPr>
          <p:cNvPr id="9" name="Text 6"/>
          <p:cNvSpPr txBox="1"/>
          <p:nvPr/>
        </p:nvSpPr>
        <p:spPr>
          <a:xfrm>
            <a:off x="2011680" y="126187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10" name="Shape 7"/>
          <p:cNvSpPr/>
          <p:nvPr/>
        </p:nvSpPr>
        <p:spPr>
          <a:xfrm>
            <a:off x="2542032" y="1188720"/>
            <a:ext cx="1965960" cy="1097280"/>
          </a:xfrm>
          <a:prstGeom prst="roundRect">
            <a:avLst>
              <a:gd name="adj" fmla="val 6667"/>
            </a:avLst>
          </a:prstGeom>
          <a:solidFill>
            <a:srgbClr val="EAF1F8"/>
          </a:solidFill>
          <a:ln w="12700">
            <a:solidFill>
              <a:srgbClr val="EAF1F8"/>
            </a:solidFill>
            <a:prstDash val="solid"/>
          </a:ln>
        </p:spPr>
      </p:sp>
      <p:sp>
        <p:nvSpPr>
          <p:cNvPr id="11" name="Text 8"/>
          <p:cNvSpPr txBox="1"/>
          <p:nvPr/>
        </p:nvSpPr>
        <p:spPr>
          <a:xfrm>
            <a:off x="2651760" y="118872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What information did the user actually receive?</a:t>
            </a:r>
            <a:endParaRPr lang="en-US" sz="1300"/>
          </a:p>
        </p:txBody>
      </p:sp>
      <p:sp>
        <p:nvSpPr>
          <p:cNvPr id="12" name="Shape 9"/>
          <p:cNvSpPr/>
          <p:nvPr/>
        </p:nvSpPr>
        <p:spPr>
          <a:xfrm>
            <a:off x="2542032" y="1188720"/>
            <a:ext cx="1965960" cy="64008"/>
          </a:xfrm>
          <a:prstGeom prst="rect">
            <a:avLst/>
          </a:prstGeom>
          <a:solidFill>
            <a:srgbClr val="E0A030"/>
          </a:solidFill>
          <a:ln w="12700">
            <a:solidFill>
              <a:srgbClr val="E0A030"/>
            </a:solidFill>
            <a:prstDash val="solid"/>
          </a:ln>
        </p:spPr>
      </p:sp>
      <p:sp>
        <p:nvSpPr>
          <p:cNvPr id="13" name="Text 10"/>
          <p:cNvSpPr txBox="1"/>
          <p:nvPr/>
        </p:nvSpPr>
        <p:spPr>
          <a:xfrm>
            <a:off x="4096512" y="126187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14" name="Shape 11"/>
          <p:cNvSpPr/>
          <p:nvPr/>
        </p:nvSpPr>
        <p:spPr>
          <a:xfrm>
            <a:off x="4626864" y="1188720"/>
            <a:ext cx="1965960" cy="1097280"/>
          </a:xfrm>
          <a:prstGeom prst="roundRect">
            <a:avLst>
              <a:gd name="adj" fmla="val 6667"/>
            </a:avLst>
          </a:prstGeom>
          <a:solidFill>
            <a:srgbClr val="EAF1F8"/>
          </a:solidFill>
          <a:ln w="12700">
            <a:solidFill>
              <a:srgbClr val="EAF1F8"/>
            </a:solidFill>
            <a:prstDash val="solid"/>
          </a:ln>
        </p:spPr>
      </p:sp>
      <p:sp>
        <p:nvSpPr>
          <p:cNvPr id="15" name="Text 12"/>
          <p:cNvSpPr txBox="1"/>
          <p:nvPr/>
        </p:nvSpPr>
        <p:spPr>
          <a:xfrm>
            <a:off x="4736592" y="118872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Could the behavior be reproduced?</a:t>
            </a:r>
            <a:endParaRPr lang="en-US" sz="1300"/>
          </a:p>
        </p:txBody>
      </p:sp>
      <p:sp>
        <p:nvSpPr>
          <p:cNvPr id="16" name="Shape 13"/>
          <p:cNvSpPr/>
          <p:nvPr/>
        </p:nvSpPr>
        <p:spPr>
          <a:xfrm>
            <a:off x="4626864" y="1188720"/>
            <a:ext cx="1965960" cy="64008"/>
          </a:xfrm>
          <a:prstGeom prst="rect">
            <a:avLst/>
          </a:prstGeom>
          <a:solidFill>
            <a:srgbClr val="E0A030"/>
          </a:solidFill>
          <a:ln w="12700">
            <a:solidFill>
              <a:srgbClr val="E0A030"/>
            </a:solidFill>
            <a:prstDash val="solid"/>
          </a:ln>
        </p:spPr>
      </p:sp>
      <p:sp>
        <p:nvSpPr>
          <p:cNvPr id="17" name="Text 14"/>
          <p:cNvSpPr txBox="1"/>
          <p:nvPr/>
        </p:nvSpPr>
        <p:spPr>
          <a:xfrm>
            <a:off x="6181344" y="126187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18" name="Shape 15"/>
          <p:cNvSpPr/>
          <p:nvPr/>
        </p:nvSpPr>
        <p:spPr>
          <a:xfrm>
            <a:off x="6711696" y="1188720"/>
            <a:ext cx="1965960" cy="1097280"/>
          </a:xfrm>
          <a:prstGeom prst="roundRect">
            <a:avLst>
              <a:gd name="adj" fmla="val 6667"/>
            </a:avLst>
          </a:prstGeom>
          <a:solidFill>
            <a:srgbClr val="EAF1F8"/>
          </a:solidFill>
          <a:ln w="12700">
            <a:solidFill>
              <a:srgbClr val="EAF1F8"/>
            </a:solidFill>
            <a:prstDash val="solid"/>
          </a:ln>
        </p:spPr>
      </p:sp>
      <p:sp>
        <p:nvSpPr>
          <p:cNvPr id="19" name="Text 16"/>
          <p:cNvSpPr txBox="1"/>
          <p:nvPr/>
        </p:nvSpPr>
        <p:spPr>
          <a:xfrm>
            <a:off x="6821424" y="118872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Which users / systems were affected?</a:t>
            </a:r>
            <a:endParaRPr lang="en-US" sz="1300"/>
          </a:p>
        </p:txBody>
      </p:sp>
      <p:sp>
        <p:nvSpPr>
          <p:cNvPr id="20" name="Shape 17"/>
          <p:cNvSpPr/>
          <p:nvPr/>
        </p:nvSpPr>
        <p:spPr>
          <a:xfrm>
            <a:off x="6711696" y="1188720"/>
            <a:ext cx="1965960" cy="64008"/>
          </a:xfrm>
          <a:prstGeom prst="rect">
            <a:avLst/>
          </a:prstGeom>
          <a:solidFill>
            <a:srgbClr val="E0A030"/>
          </a:solidFill>
          <a:ln w="12700">
            <a:solidFill>
              <a:srgbClr val="E0A030"/>
            </a:solidFill>
            <a:prstDash val="solid"/>
          </a:ln>
        </p:spPr>
      </p:sp>
      <p:sp>
        <p:nvSpPr>
          <p:cNvPr id="21" name="Text 18"/>
          <p:cNvSpPr txBox="1"/>
          <p:nvPr/>
        </p:nvSpPr>
        <p:spPr>
          <a:xfrm>
            <a:off x="8266176" y="126187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22" name="Shape 19"/>
          <p:cNvSpPr/>
          <p:nvPr/>
        </p:nvSpPr>
        <p:spPr>
          <a:xfrm>
            <a:off x="457200" y="2468880"/>
            <a:ext cx="1965960" cy="1097280"/>
          </a:xfrm>
          <a:prstGeom prst="roundRect">
            <a:avLst>
              <a:gd name="adj" fmla="val 6667"/>
            </a:avLst>
          </a:prstGeom>
          <a:solidFill>
            <a:srgbClr val="EAF1F8"/>
          </a:solidFill>
          <a:ln w="12700">
            <a:solidFill>
              <a:srgbClr val="EAF1F8"/>
            </a:solidFill>
            <a:prstDash val="solid"/>
          </a:ln>
        </p:spPr>
      </p:sp>
      <p:sp>
        <p:nvSpPr>
          <p:cNvPr id="23" name="Text 20"/>
          <p:cNvSpPr txBox="1"/>
          <p:nvPr/>
        </p:nvSpPr>
        <p:spPr>
          <a:xfrm>
            <a:off x="566928" y="246888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Did the vendor receive or retain PHI?</a:t>
            </a:r>
            <a:endParaRPr lang="en-US" sz="1300"/>
          </a:p>
        </p:txBody>
      </p:sp>
      <p:sp>
        <p:nvSpPr>
          <p:cNvPr id="24" name="Shape 21"/>
          <p:cNvSpPr/>
          <p:nvPr/>
        </p:nvSpPr>
        <p:spPr>
          <a:xfrm>
            <a:off x="457200" y="2468880"/>
            <a:ext cx="1965960" cy="64008"/>
          </a:xfrm>
          <a:prstGeom prst="rect">
            <a:avLst/>
          </a:prstGeom>
          <a:solidFill>
            <a:srgbClr val="E0A030"/>
          </a:solidFill>
          <a:ln w="12700">
            <a:solidFill>
              <a:srgbClr val="E0A030"/>
            </a:solidFill>
            <a:prstDash val="solid"/>
          </a:ln>
        </p:spPr>
      </p:sp>
      <p:sp>
        <p:nvSpPr>
          <p:cNvPr id="25" name="Text 22"/>
          <p:cNvSpPr txBox="1"/>
          <p:nvPr/>
        </p:nvSpPr>
        <p:spPr>
          <a:xfrm>
            <a:off x="2011680" y="254203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26" name="Shape 23"/>
          <p:cNvSpPr/>
          <p:nvPr/>
        </p:nvSpPr>
        <p:spPr>
          <a:xfrm>
            <a:off x="2542032" y="2468880"/>
            <a:ext cx="1965960" cy="1097280"/>
          </a:xfrm>
          <a:prstGeom prst="roundRect">
            <a:avLst>
              <a:gd name="adj" fmla="val 6667"/>
            </a:avLst>
          </a:prstGeom>
          <a:solidFill>
            <a:srgbClr val="EAF1F8"/>
          </a:solidFill>
          <a:ln w="12700">
            <a:solidFill>
              <a:srgbClr val="EAF1F8"/>
            </a:solidFill>
            <a:prstDash val="solid"/>
          </a:ln>
        </p:spPr>
      </p:sp>
      <p:sp>
        <p:nvSpPr>
          <p:cNvPr id="27" name="Text 24"/>
          <p:cNvSpPr txBox="1"/>
          <p:nvPr/>
        </p:nvSpPr>
        <p:spPr>
          <a:xfrm>
            <a:off x="2651760" y="246888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What did the logs show?</a:t>
            </a:r>
            <a:endParaRPr lang="en-US" sz="1300"/>
          </a:p>
        </p:txBody>
      </p:sp>
      <p:sp>
        <p:nvSpPr>
          <p:cNvPr id="28" name="Shape 25"/>
          <p:cNvSpPr/>
          <p:nvPr/>
        </p:nvSpPr>
        <p:spPr>
          <a:xfrm>
            <a:off x="2542032" y="2468880"/>
            <a:ext cx="1965960" cy="64008"/>
          </a:xfrm>
          <a:prstGeom prst="rect">
            <a:avLst/>
          </a:prstGeom>
          <a:solidFill>
            <a:srgbClr val="E0A030"/>
          </a:solidFill>
          <a:ln w="12700">
            <a:solidFill>
              <a:srgbClr val="E0A030"/>
            </a:solidFill>
            <a:prstDash val="solid"/>
          </a:ln>
        </p:spPr>
      </p:sp>
      <p:sp>
        <p:nvSpPr>
          <p:cNvPr id="29" name="Text 26"/>
          <p:cNvSpPr txBox="1"/>
          <p:nvPr/>
        </p:nvSpPr>
        <p:spPr>
          <a:xfrm>
            <a:off x="4096512" y="254203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30" name="Shape 27"/>
          <p:cNvSpPr/>
          <p:nvPr/>
        </p:nvSpPr>
        <p:spPr>
          <a:xfrm>
            <a:off x="4626864" y="2468880"/>
            <a:ext cx="1965960" cy="1097280"/>
          </a:xfrm>
          <a:prstGeom prst="roundRect">
            <a:avLst>
              <a:gd name="adj" fmla="val 6667"/>
            </a:avLst>
          </a:prstGeom>
          <a:solidFill>
            <a:srgbClr val="EAF1F8"/>
          </a:solidFill>
          <a:ln w="12700">
            <a:solidFill>
              <a:srgbClr val="EAF1F8"/>
            </a:solidFill>
            <a:prstDash val="solid"/>
          </a:ln>
        </p:spPr>
      </p:sp>
      <p:sp>
        <p:nvSpPr>
          <p:cNvPr id="31" name="Text 28"/>
          <p:cNvSpPr txBox="1"/>
          <p:nvPr/>
        </p:nvSpPr>
        <p:spPr>
          <a:xfrm>
            <a:off x="4736592" y="246888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What instructions or external content influenced the AI?</a:t>
            </a:r>
            <a:endParaRPr lang="en-US" sz="1300"/>
          </a:p>
        </p:txBody>
      </p:sp>
      <p:sp>
        <p:nvSpPr>
          <p:cNvPr id="32" name="Shape 29"/>
          <p:cNvSpPr/>
          <p:nvPr/>
        </p:nvSpPr>
        <p:spPr>
          <a:xfrm>
            <a:off x="4626864" y="2468880"/>
            <a:ext cx="1965960" cy="64008"/>
          </a:xfrm>
          <a:prstGeom prst="rect">
            <a:avLst/>
          </a:prstGeom>
          <a:solidFill>
            <a:srgbClr val="E0A030"/>
          </a:solidFill>
          <a:ln w="12700">
            <a:solidFill>
              <a:srgbClr val="E0A030"/>
            </a:solidFill>
            <a:prstDash val="solid"/>
          </a:ln>
        </p:spPr>
      </p:sp>
      <p:sp>
        <p:nvSpPr>
          <p:cNvPr id="33" name="Text 30"/>
          <p:cNvSpPr txBox="1"/>
          <p:nvPr/>
        </p:nvSpPr>
        <p:spPr>
          <a:xfrm>
            <a:off x="6181344" y="254203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34" name="Shape 31"/>
          <p:cNvSpPr/>
          <p:nvPr/>
        </p:nvSpPr>
        <p:spPr>
          <a:xfrm>
            <a:off x="6711696" y="2468880"/>
            <a:ext cx="1965960" cy="1097280"/>
          </a:xfrm>
          <a:prstGeom prst="roundRect">
            <a:avLst>
              <a:gd name="adj" fmla="val 6667"/>
            </a:avLst>
          </a:prstGeom>
          <a:solidFill>
            <a:srgbClr val="EAF1F8"/>
          </a:solidFill>
          <a:ln w="12700">
            <a:solidFill>
              <a:srgbClr val="EAF1F8"/>
            </a:solidFill>
            <a:prstDash val="solid"/>
          </a:ln>
        </p:spPr>
      </p:sp>
      <p:sp>
        <p:nvSpPr>
          <p:cNvPr id="35" name="Text 32"/>
          <p:cNvSpPr txBox="1"/>
          <p:nvPr/>
        </p:nvSpPr>
        <p:spPr>
          <a:xfrm>
            <a:off x="6821424" y="2468880"/>
            <a:ext cx="1746504" cy="1097280"/>
          </a:xfrm>
          <a:prstGeom prst="rect">
            <a:avLst/>
          </a:prstGeom>
          <a:noFill/>
          <a:ln/>
        </p:spPr>
        <p:txBody>
          <a:bodyPr wrap="square" lIns="0" tIns="0" rIns="0" bIns="0" rtlCol="0" anchor="ctr"/>
          <a:lstStyle/>
          <a:p>
            <a:pPr marL="0" indent="0">
              <a:buNone/>
            </a:pPr>
            <a:r>
              <a:rPr lang="en-US" sz="1300" b="1">
                <a:solidFill>
                  <a:srgbClr val="0B1F3A"/>
                </a:solidFill>
                <a:latin typeface="Calibri" pitchFamily="34" charset="0"/>
                <a:ea typeface="Calibri" pitchFamily="34" charset="-122"/>
                <a:cs typeface="Calibri" pitchFamily="34" charset="-120"/>
              </a:rPr>
              <a:t>Was the questionable knowledge source validated?</a:t>
            </a:r>
            <a:endParaRPr lang="en-US" sz="1300"/>
          </a:p>
        </p:txBody>
      </p:sp>
      <p:sp>
        <p:nvSpPr>
          <p:cNvPr id="36" name="Shape 33"/>
          <p:cNvSpPr/>
          <p:nvPr/>
        </p:nvSpPr>
        <p:spPr>
          <a:xfrm>
            <a:off x="6711696" y="2468880"/>
            <a:ext cx="1965960" cy="64008"/>
          </a:xfrm>
          <a:prstGeom prst="rect">
            <a:avLst/>
          </a:prstGeom>
          <a:solidFill>
            <a:srgbClr val="E0A030"/>
          </a:solidFill>
          <a:ln w="12700">
            <a:solidFill>
              <a:srgbClr val="E0A030"/>
            </a:solidFill>
            <a:prstDash val="solid"/>
          </a:ln>
        </p:spPr>
      </p:sp>
      <p:sp>
        <p:nvSpPr>
          <p:cNvPr id="37" name="Text 34"/>
          <p:cNvSpPr txBox="1"/>
          <p:nvPr/>
        </p:nvSpPr>
        <p:spPr>
          <a:xfrm>
            <a:off x="8266176" y="2542032"/>
            <a:ext cx="365760" cy="365760"/>
          </a:xfrm>
          <a:prstGeom prst="rect">
            <a:avLst/>
          </a:prstGeom>
          <a:noFill/>
          <a:ln/>
        </p:spPr>
        <p:txBody>
          <a:bodyPr wrap="square" lIns="0" tIns="0" rIns="0" bIns="0" rtlCol="0" anchor="ctr"/>
          <a:lstStyle/>
          <a:p>
            <a:pPr marL="0" indent="0" algn="r">
              <a:buNone/>
            </a:pPr>
            <a:r>
              <a:rPr lang="en-US" sz="2000" b="1">
                <a:solidFill>
                  <a:srgbClr val="E0A030"/>
                </a:solidFill>
                <a:latin typeface="Calibri" pitchFamily="34" charset="0"/>
                <a:ea typeface="Calibri" pitchFamily="34" charset="-122"/>
                <a:cs typeface="Calibri" pitchFamily="34" charset="-120"/>
              </a:rPr>
              <a:t>?</a:t>
            </a:r>
            <a:endParaRPr lang="en-US" sz="2000"/>
          </a:p>
        </p:txBody>
      </p:sp>
      <p:sp>
        <p:nvSpPr>
          <p:cNvPr id="38" name="Shape 35"/>
          <p:cNvSpPr/>
          <p:nvPr/>
        </p:nvSpPr>
        <p:spPr>
          <a:xfrm>
            <a:off x="457200" y="3840480"/>
            <a:ext cx="8229600" cy="777240"/>
          </a:xfrm>
          <a:prstGeom prst="roundRect">
            <a:avLst>
              <a:gd name="adj" fmla="val 9412"/>
            </a:avLst>
          </a:prstGeom>
          <a:solidFill>
            <a:srgbClr val="0B1F3A"/>
          </a:solidFill>
          <a:ln w="12700">
            <a:solidFill>
              <a:srgbClr val="0B1F3A"/>
            </a:solidFill>
            <a:prstDash val="solid"/>
          </a:ln>
        </p:spPr>
      </p:sp>
      <p:sp>
        <p:nvSpPr>
          <p:cNvPr id="39" name="Text 36"/>
          <p:cNvSpPr txBox="1"/>
          <p:nvPr/>
        </p:nvSpPr>
        <p:spPr>
          <a:xfrm>
            <a:off x="566928" y="3840480"/>
            <a:ext cx="8010144" cy="77724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Unknown does not mean malicious, and possible exposure does not automatically establish a reportable breach.</a:t>
            </a:r>
            <a:endParaRPr 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0B1F3A"/>
                </a:solidFill>
                <a:latin typeface="Calibri" pitchFamily="34" charset="0"/>
                <a:ea typeface="Calibri" pitchFamily="34" charset="-122"/>
                <a:cs typeface="Calibri" pitchFamily="34" charset="-120"/>
              </a:rPr>
              <a:t>Required Controls</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Shape 3"/>
          <p:cNvSpPr/>
          <p:nvPr/>
        </p:nvSpPr>
        <p:spPr>
          <a:xfrm>
            <a:off x="457200" y="1143000"/>
            <a:ext cx="3017520" cy="411480"/>
          </a:xfrm>
          <a:prstGeom prst="roundRect">
            <a:avLst>
              <a:gd name="adj" fmla="val 17778"/>
            </a:avLst>
          </a:prstGeom>
          <a:solidFill>
            <a:srgbClr val="0B1F3A"/>
          </a:solidFill>
          <a:ln w="12700">
            <a:solidFill>
              <a:srgbClr val="0B1F3A"/>
            </a:solidFill>
            <a:prstDash val="solid"/>
          </a:ln>
        </p:spPr>
      </p:sp>
      <p:sp>
        <p:nvSpPr>
          <p:cNvPr id="7" name="Text 4"/>
          <p:cNvSpPr txBox="1"/>
          <p:nvPr/>
        </p:nvSpPr>
        <p:spPr>
          <a:xfrm>
            <a:off x="566928" y="1143000"/>
            <a:ext cx="2798064" cy="41148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Data leakage</a:t>
            </a:r>
            <a:endParaRPr lang="en-US" sz="1300"/>
          </a:p>
        </p:txBody>
      </p:sp>
      <p:sp>
        <p:nvSpPr>
          <p:cNvPr id="8" name="Text 5"/>
          <p:cNvSpPr txBox="1"/>
          <p:nvPr/>
        </p:nvSpPr>
        <p:spPr>
          <a:xfrm>
            <a:off x="3474720" y="1143000"/>
            <a:ext cx="457200" cy="411480"/>
          </a:xfrm>
          <a:prstGeom prst="rect">
            <a:avLst/>
          </a:prstGeom>
          <a:noFill/>
          <a:ln/>
        </p:spPr>
        <p:txBody>
          <a:bodyPr wrap="square" lIns="0" tIns="0" rIns="0" bIns="0" rtlCol="0" anchor="ctr"/>
          <a:lstStyle/>
          <a:p>
            <a:pPr marL="0" indent="0" algn="ctr">
              <a:buNone/>
            </a:pPr>
            <a:r>
              <a:rPr lang="en-US" sz="1800" b="1">
                <a:solidFill>
                  <a:srgbClr val="E0A030"/>
                </a:solidFill>
                <a:latin typeface="Calibri" pitchFamily="34" charset="0"/>
                <a:ea typeface="Calibri" pitchFamily="34" charset="-122"/>
                <a:cs typeface="Calibri" pitchFamily="34" charset="-120"/>
              </a:rPr>
              <a:t>→</a:t>
            </a:r>
            <a:endParaRPr lang="en-US" sz="1800"/>
          </a:p>
        </p:txBody>
      </p:sp>
      <p:sp>
        <p:nvSpPr>
          <p:cNvPr id="9" name="Shape 6"/>
          <p:cNvSpPr/>
          <p:nvPr/>
        </p:nvSpPr>
        <p:spPr>
          <a:xfrm>
            <a:off x="3931920" y="1143000"/>
            <a:ext cx="4754880" cy="411480"/>
          </a:xfrm>
          <a:prstGeom prst="roundRect">
            <a:avLst>
              <a:gd name="adj" fmla="val 17778"/>
            </a:avLst>
          </a:prstGeom>
          <a:solidFill>
            <a:srgbClr val="EAF1F8"/>
          </a:solidFill>
          <a:ln w="12700">
            <a:solidFill>
              <a:srgbClr val="EAF1F8"/>
            </a:solidFill>
            <a:prstDash val="solid"/>
          </a:ln>
        </p:spPr>
      </p:sp>
      <p:sp>
        <p:nvSpPr>
          <p:cNvPr id="10" name="Text 7"/>
          <p:cNvSpPr txBox="1"/>
          <p:nvPr/>
        </p:nvSpPr>
        <p:spPr>
          <a:xfrm>
            <a:off x="4041648" y="1143000"/>
            <a:ext cx="4535424" cy="41148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Retrieval boundaries and data segmentation</a:t>
            </a:r>
            <a:endParaRPr lang="en-US" sz="1300"/>
          </a:p>
        </p:txBody>
      </p:sp>
      <p:sp>
        <p:nvSpPr>
          <p:cNvPr id="11" name="Shape 8"/>
          <p:cNvSpPr/>
          <p:nvPr/>
        </p:nvSpPr>
        <p:spPr>
          <a:xfrm>
            <a:off x="457200" y="1609344"/>
            <a:ext cx="3017520" cy="411480"/>
          </a:xfrm>
          <a:prstGeom prst="roundRect">
            <a:avLst>
              <a:gd name="adj" fmla="val 17778"/>
            </a:avLst>
          </a:prstGeom>
          <a:solidFill>
            <a:srgbClr val="0B1F3A"/>
          </a:solidFill>
          <a:ln w="12700">
            <a:solidFill>
              <a:srgbClr val="0B1F3A"/>
            </a:solidFill>
            <a:prstDash val="solid"/>
          </a:ln>
        </p:spPr>
      </p:sp>
      <p:sp>
        <p:nvSpPr>
          <p:cNvPr id="12" name="Text 9"/>
          <p:cNvSpPr txBox="1"/>
          <p:nvPr/>
        </p:nvSpPr>
        <p:spPr>
          <a:xfrm>
            <a:off x="566928" y="1609344"/>
            <a:ext cx="2798064" cy="41148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Unauthorized access</a:t>
            </a:r>
            <a:endParaRPr lang="en-US" sz="1300"/>
          </a:p>
        </p:txBody>
      </p:sp>
      <p:sp>
        <p:nvSpPr>
          <p:cNvPr id="13" name="Text 10"/>
          <p:cNvSpPr txBox="1"/>
          <p:nvPr/>
        </p:nvSpPr>
        <p:spPr>
          <a:xfrm>
            <a:off x="3474720" y="1609344"/>
            <a:ext cx="457200" cy="411480"/>
          </a:xfrm>
          <a:prstGeom prst="rect">
            <a:avLst/>
          </a:prstGeom>
          <a:noFill/>
          <a:ln/>
        </p:spPr>
        <p:txBody>
          <a:bodyPr wrap="square" lIns="0" tIns="0" rIns="0" bIns="0" rtlCol="0" anchor="ctr"/>
          <a:lstStyle/>
          <a:p>
            <a:pPr marL="0" indent="0" algn="ctr">
              <a:buNone/>
            </a:pPr>
            <a:r>
              <a:rPr lang="en-US" sz="1800" b="1">
                <a:solidFill>
                  <a:srgbClr val="E0A030"/>
                </a:solidFill>
                <a:latin typeface="Calibri" pitchFamily="34" charset="0"/>
                <a:ea typeface="Calibri" pitchFamily="34" charset="-122"/>
                <a:cs typeface="Calibri" pitchFamily="34" charset="-120"/>
              </a:rPr>
              <a:t>→</a:t>
            </a:r>
            <a:endParaRPr lang="en-US" sz="1800"/>
          </a:p>
        </p:txBody>
      </p:sp>
      <p:sp>
        <p:nvSpPr>
          <p:cNvPr id="14" name="Shape 11"/>
          <p:cNvSpPr/>
          <p:nvPr/>
        </p:nvSpPr>
        <p:spPr>
          <a:xfrm>
            <a:off x="3931920" y="1609344"/>
            <a:ext cx="4754880" cy="411480"/>
          </a:xfrm>
          <a:prstGeom prst="roundRect">
            <a:avLst>
              <a:gd name="adj" fmla="val 17778"/>
            </a:avLst>
          </a:prstGeom>
          <a:solidFill>
            <a:srgbClr val="EAF1F8"/>
          </a:solidFill>
          <a:ln w="12700">
            <a:solidFill>
              <a:srgbClr val="EAF1F8"/>
            </a:solidFill>
            <a:prstDash val="solid"/>
          </a:ln>
        </p:spPr>
      </p:sp>
      <p:sp>
        <p:nvSpPr>
          <p:cNvPr id="15" name="Text 12"/>
          <p:cNvSpPr txBox="1"/>
          <p:nvPr/>
        </p:nvSpPr>
        <p:spPr>
          <a:xfrm>
            <a:off x="4041648" y="1609344"/>
            <a:ext cx="4535424" cy="41148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Least privilege, authentication, authorization</a:t>
            </a:r>
            <a:endParaRPr lang="en-US" sz="1300"/>
          </a:p>
        </p:txBody>
      </p:sp>
      <p:sp>
        <p:nvSpPr>
          <p:cNvPr id="16" name="Shape 13"/>
          <p:cNvSpPr/>
          <p:nvPr/>
        </p:nvSpPr>
        <p:spPr>
          <a:xfrm>
            <a:off x="457200" y="2075688"/>
            <a:ext cx="3017520" cy="411480"/>
          </a:xfrm>
          <a:prstGeom prst="roundRect">
            <a:avLst>
              <a:gd name="adj" fmla="val 17778"/>
            </a:avLst>
          </a:prstGeom>
          <a:solidFill>
            <a:srgbClr val="0B1F3A"/>
          </a:solidFill>
          <a:ln w="12700">
            <a:solidFill>
              <a:srgbClr val="0B1F3A"/>
            </a:solidFill>
            <a:prstDash val="solid"/>
          </a:ln>
        </p:spPr>
      </p:sp>
      <p:sp>
        <p:nvSpPr>
          <p:cNvPr id="17" name="Text 14"/>
          <p:cNvSpPr txBox="1"/>
          <p:nvPr/>
        </p:nvSpPr>
        <p:spPr>
          <a:xfrm>
            <a:off x="566928" y="2075688"/>
            <a:ext cx="2798064" cy="41148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Prompt injection</a:t>
            </a:r>
            <a:endParaRPr lang="en-US" sz="1300"/>
          </a:p>
        </p:txBody>
      </p:sp>
      <p:sp>
        <p:nvSpPr>
          <p:cNvPr id="18" name="Text 15"/>
          <p:cNvSpPr txBox="1"/>
          <p:nvPr/>
        </p:nvSpPr>
        <p:spPr>
          <a:xfrm>
            <a:off x="3474720" y="2075688"/>
            <a:ext cx="457200" cy="411480"/>
          </a:xfrm>
          <a:prstGeom prst="rect">
            <a:avLst/>
          </a:prstGeom>
          <a:noFill/>
          <a:ln/>
        </p:spPr>
        <p:txBody>
          <a:bodyPr wrap="square" lIns="0" tIns="0" rIns="0" bIns="0" rtlCol="0" anchor="ctr"/>
          <a:lstStyle/>
          <a:p>
            <a:pPr marL="0" indent="0" algn="ctr">
              <a:buNone/>
            </a:pPr>
            <a:r>
              <a:rPr lang="en-US" sz="1800" b="1">
                <a:solidFill>
                  <a:srgbClr val="E0A030"/>
                </a:solidFill>
                <a:latin typeface="Calibri" pitchFamily="34" charset="0"/>
                <a:ea typeface="Calibri" pitchFamily="34" charset="-122"/>
                <a:cs typeface="Calibri" pitchFamily="34" charset="-120"/>
              </a:rPr>
              <a:t>→</a:t>
            </a:r>
            <a:endParaRPr lang="en-US" sz="1800"/>
          </a:p>
        </p:txBody>
      </p:sp>
      <p:sp>
        <p:nvSpPr>
          <p:cNvPr id="19" name="Shape 16"/>
          <p:cNvSpPr/>
          <p:nvPr/>
        </p:nvSpPr>
        <p:spPr>
          <a:xfrm>
            <a:off x="3931920" y="2075688"/>
            <a:ext cx="4754880" cy="411480"/>
          </a:xfrm>
          <a:prstGeom prst="roundRect">
            <a:avLst>
              <a:gd name="adj" fmla="val 17778"/>
            </a:avLst>
          </a:prstGeom>
          <a:solidFill>
            <a:srgbClr val="EAF1F8"/>
          </a:solidFill>
          <a:ln w="12700">
            <a:solidFill>
              <a:srgbClr val="EAF1F8"/>
            </a:solidFill>
            <a:prstDash val="solid"/>
          </a:ln>
        </p:spPr>
      </p:sp>
      <p:sp>
        <p:nvSpPr>
          <p:cNvPr id="20" name="Text 17"/>
          <p:cNvSpPr txBox="1"/>
          <p:nvPr/>
        </p:nvSpPr>
        <p:spPr>
          <a:xfrm>
            <a:off x="4041648" y="2075688"/>
            <a:ext cx="4535424" cy="41148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Input controls, testing, human review</a:t>
            </a:r>
            <a:endParaRPr lang="en-US" sz="1300"/>
          </a:p>
        </p:txBody>
      </p:sp>
      <p:sp>
        <p:nvSpPr>
          <p:cNvPr id="21" name="Shape 18"/>
          <p:cNvSpPr/>
          <p:nvPr/>
        </p:nvSpPr>
        <p:spPr>
          <a:xfrm>
            <a:off x="457200" y="2542032"/>
            <a:ext cx="3017520" cy="411480"/>
          </a:xfrm>
          <a:prstGeom prst="roundRect">
            <a:avLst>
              <a:gd name="adj" fmla="val 17778"/>
            </a:avLst>
          </a:prstGeom>
          <a:solidFill>
            <a:srgbClr val="0B1F3A"/>
          </a:solidFill>
          <a:ln w="12700">
            <a:solidFill>
              <a:srgbClr val="0B1F3A"/>
            </a:solidFill>
            <a:prstDash val="solid"/>
          </a:ln>
        </p:spPr>
      </p:sp>
      <p:sp>
        <p:nvSpPr>
          <p:cNvPr id="22" name="Text 19"/>
          <p:cNvSpPr txBox="1"/>
          <p:nvPr/>
        </p:nvSpPr>
        <p:spPr>
          <a:xfrm>
            <a:off x="566928" y="2542032"/>
            <a:ext cx="2798064" cy="41148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PHI / privacy risk</a:t>
            </a:r>
            <a:endParaRPr lang="en-US" sz="1300"/>
          </a:p>
        </p:txBody>
      </p:sp>
      <p:sp>
        <p:nvSpPr>
          <p:cNvPr id="23" name="Text 20"/>
          <p:cNvSpPr txBox="1"/>
          <p:nvPr/>
        </p:nvSpPr>
        <p:spPr>
          <a:xfrm>
            <a:off x="3474720" y="2542032"/>
            <a:ext cx="457200" cy="411480"/>
          </a:xfrm>
          <a:prstGeom prst="rect">
            <a:avLst/>
          </a:prstGeom>
          <a:noFill/>
          <a:ln/>
        </p:spPr>
        <p:txBody>
          <a:bodyPr wrap="square" lIns="0" tIns="0" rIns="0" bIns="0" rtlCol="0" anchor="ctr"/>
          <a:lstStyle/>
          <a:p>
            <a:pPr marL="0" indent="0" algn="ctr">
              <a:buNone/>
            </a:pPr>
            <a:r>
              <a:rPr lang="en-US" sz="1800" b="1">
                <a:solidFill>
                  <a:srgbClr val="E0A030"/>
                </a:solidFill>
                <a:latin typeface="Calibri" pitchFamily="34" charset="0"/>
                <a:ea typeface="Calibri" pitchFamily="34" charset="-122"/>
                <a:cs typeface="Calibri" pitchFamily="34" charset="-120"/>
              </a:rPr>
              <a:t>→</a:t>
            </a:r>
            <a:endParaRPr lang="en-US" sz="1800"/>
          </a:p>
        </p:txBody>
      </p:sp>
      <p:sp>
        <p:nvSpPr>
          <p:cNvPr id="24" name="Shape 21"/>
          <p:cNvSpPr/>
          <p:nvPr/>
        </p:nvSpPr>
        <p:spPr>
          <a:xfrm>
            <a:off x="3931920" y="2542032"/>
            <a:ext cx="4754880" cy="411480"/>
          </a:xfrm>
          <a:prstGeom prst="roundRect">
            <a:avLst>
              <a:gd name="adj" fmla="val 17778"/>
            </a:avLst>
          </a:prstGeom>
          <a:solidFill>
            <a:srgbClr val="EAF1F8"/>
          </a:solidFill>
          <a:ln w="12700">
            <a:solidFill>
              <a:srgbClr val="EAF1F8"/>
            </a:solidFill>
            <a:prstDash val="solid"/>
          </a:ln>
        </p:spPr>
      </p:sp>
      <p:sp>
        <p:nvSpPr>
          <p:cNvPr id="25" name="Text 22"/>
          <p:cNvSpPr txBox="1"/>
          <p:nvPr/>
        </p:nvSpPr>
        <p:spPr>
          <a:xfrm>
            <a:off x="4041648" y="2542032"/>
            <a:ext cx="4535424" cy="41148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Privacy monitoring and reporting</a:t>
            </a:r>
            <a:endParaRPr lang="en-US" sz="1300"/>
          </a:p>
        </p:txBody>
      </p:sp>
      <p:sp>
        <p:nvSpPr>
          <p:cNvPr id="26" name="Shape 23"/>
          <p:cNvSpPr/>
          <p:nvPr/>
        </p:nvSpPr>
        <p:spPr>
          <a:xfrm>
            <a:off x="457200" y="3008376"/>
            <a:ext cx="3017520" cy="411480"/>
          </a:xfrm>
          <a:prstGeom prst="roundRect">
            <a:avLst>
              <a:gd name="adj" fmla="val 17778"/>
            </a:avLst>
          </a:prstGeom>
          <a:solidFill>
            <a:srgbClr val="0B1F3A"/>
          </a:solidFill>
          <a:ln w="12700">
            <a:solidFill>
              <a:srgbClr val="0B1F3A"/>
            </a:solidFill>
            <a:prstDash val="solid"/>
          </a:ln>
        </p:spPr>
      </p:sp>
      <p:sp>
        <p:nvSpPr>
          <p:cNvPr id="27" name="Text 24"/>
          <p:cNvSpPr txBox="1"/>
          <p:nvPr/>
        </p:nvSpPr>
        <p:spPr>
          <a:xfrm>
            <a:off x="566928" y="3008376"/>
            <a:ext cx="2798064" cy="41148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Vendor risk</a:t>
            </a:r>
            <a:endParaRPr lang="en-US" sz="1300"/>
          </a:p>
        </p:txBody>
      </p:sp>
      <p:sp>
        <p:nvSpPr>
          <p:cNvPr id="28" name="Text 25"/>
          <p:cNvSpPr txBox="1"/>
          <p:nvPr/>
        </p:nvSpPr>
        <p:spPr>
          <a:xfrm>
            <a:off x="3474720" y="3008376"/>
            <a:ext cx="457200" cy="411480"/>
          </a:xfrm>
          <a:prstGeom prst="rect">
            <a:avLst/>
          </a:prstGeom>
          <a:noFill/>
          <a:ln/>
        </p:spPr>
        <p:txBody>
          <a:bodyPr wrap="square" lIns="0" tIns="0" rIns="0" bIns="0" rtlCol="0" anchor="ctr"/>
          <a:lstStyle/>
          <a:p>
            <a:pPr marL="0" indent="0" algn="ctr">
              <a:buNone/>
            </a:pPr>
            <a:r>
              <a:rPr lang="en-US" sz="1800" b="1">
                <a:solidFill>
                  <a:srgbClr val="E0A030"/>
                </a:solidFill>
                <a:latin typeface="Calibri" pitchFamily="34" charset="0"/>
                <a:ea typeface="Calibri" pitchFamily="34" charset="-122"/>
                <a:cs typeface="Calibri" pitchFamily="34" charset="-120"/>
              </a:rPr>
              <a:t>→</a:t>
            </a:r>
            <a:endParaRPr lang="en-US" sz="1800"/>
          </a:p>
        </p:txBody>
      </p:sp>
      <p:sp>
        <p:nvSpPr>
          <p:cNvPr id="29" name="Shape 26"/>
          <p:cNvSpPr/>
          <p:nvPr/>
        </p:nvSpPr>
        <p:spPr>
          <a:xfrm>
            <a:off x="3931920" y="3008376"/>
            <a:ext cx="4754880" cy="411480"/>
          </a:xfrm>
          <a:prstGeom prst="roundRect">
            <a:avLst>
              <a:gd name="adj" fmla="val 17778"/>
            </a:avLst>
          </a:prstGeom>
          <a:solidFill>
            <a:srgbClr val="EAF1F8"/>
          </a:solidFill>
          <a:ln w="12700">
            <a:solidFill>
              <a:srgbClr val="EAF1F8"/>
            </a:solidFill>
            <a:prstDash val="solid"/>
          </a:ln>
        </p:spPr>
      </p:sp>
      <p:sp>
        <p:nvSpPr>
          <p:cNvPr id="30" name="Text 27"/>
          <p:cNvSpPr txBox="1"/>
          <p:nvPr/>
        </p:nvSpPr>
        <p:spPr>
          <a:xfrm>
            <a:off x="4041648" y="3008376"/>
            <a:ext cx="4535424" cy="41148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Contractual restrictions and audit evidence</a:t>
            </a:r>
            <a:endParaRPr lang="en-US" sz="1300"/>
          </a:p>
        </p:txBody>
      </p:sp>
      <p:sp>
        <p:nvSpPr>
          <p:cNvPr id="31" name="Shape 28"/>
          <p:cNvSpPr/>
          <p:nvPr/>
        </p:nvSpPr>
        <p:spPr>
          <a:xfrm>
            <a:off x="457200" y="3474720"/>
            <a:ext cx="3017520" cy="411480"/>
          </a:xfrm>
          <a:prstGeom prst="roundRect">
            <a:avLst>
              <a:gd name="adj" fmla="val 17778"/>
            </a:avLst>
          </a:prstGeom>
          <a:solidFill>
            <a:srgbClr val="0B1F3A"/>
          </a:solidFill>
          <a:ln w="12700">
            <a:solidFill>
              <a:srgbClr val="0B1F3A"/>
            </a:solidFill>
            <a:prstDash val="solid"/>
          </a:ln>
        </p:spPr>
      </p:sp>
      <p:sp>
        <p:nvSpPr>
          <p:cNvPr id="32" name="Text 29"/>
          <p:cNvSpPr txBox="1"/>
          <p:nvPr/>
        </p:nvSpPr>
        <p:spPr>
          <a:xfrm>
            <a:off x="566928" y="3474720"/>
            <a:ext cx="2798064" cy="41148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Incident risk</a:t>
            </a:r>
            <a:endParaRPr lang="en-US" sz="1300"/>
          </a:p>
        </p:txBody>
      </p:sp>
      <p:sp>
        <p:nvSpPr>
          <p:cNvPr id="33" name="Text 30"/>
          <p:cNvSpPr txBox="1"/>
          <p:nvPr/>
        </p:nvSpPr>
        <p:spPr>
          <a:xfrm>
            <a:off x="3474720" y="3474720"/>
            <a:ext cx="457200" cy="411480"/>
          </a:xfrm>
          <a:prstGeom prst="rect">
            <a:avLst/>
          </a:prstGeom>
          <a:noFill/>
          <a:ln/>
        </p:spPr>
        <p:txBody>
          <a:bodyPr wrap="square" lIns="0" tIns="0" rIns="0" bIns="0" rtlCol="0" anchor="ctr"/>
          <a:lstStyle/>
          <a:p>
            <a:pPr marL="0" indent="0" algn="ctr">
              <a:buNone/>
            </a:pPr>
            <a:r>
              <a:rPr lang="en-US" sz="1800" b="1">
                <a:solidFill>
                  <a:srgbClr val="E0A030"/>
                </a:solidFill>
                <a:latin typeface="Calibri" pitchFamily="34" charset="0"/>
                <a:ea typeface="Calibri" pitchFamily="34" charset="-122"/>
                <a:cs typeface="Calibri" pitchFamily="34" charset="-120"/>
              </a:rPr>
              <a:t>→</a:t>
            </a:r>
            <a:endParaRPr lang="en-US" sz="1800"/>
          </a:p>
        </p:txBody>
      </p:sp>
      <p:sp>
        <p:nvSpPr>
          <p:cNvPr id="34" name="Shape 31"/>
          <p:cNvSpPr/>
          <p:nvPr/>
        </p:nvSpPr>
        <p:spPr>
          <a:xfrm>
            <a:off x="3931920" y="3474720"/>
            <a:ext cx="4754880" cy="411480"/>
          </a:xfrm>
          <a:prstGeom prst="roundRect">
            <a:avLst>
              <a:gd name="adj" fmla="val 17778"/>
            </a:avLst>
          </a:prstGeom>
          <a:solidFill>
            <a:srgbClr val="EAF1F8"/>
          </a:solidFill>
          <a:ln w="12700">
            <a:solidFill>
              <a:srgbClr val="EAF1F8"/>
            </a:solidFill>
            <a:prstDash val="solid"/>
          </a:ln>
        </p:spPr>
      </p:sp>
      <p:sp>
        <p:nvSpPr>
          <p:cNvPr id="35" name="Text 32"/>
          <p:cNvSpPr txBox="1"/>
          <p:nvPr/>
        </p:nvSpPr>
        <p:spPr>
          <a:xfrm>
            <a:off x="4041648" y="3474720"/>
            <a:ext cx="4535424" cy="41148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Logging, evidence preservation, escalation triggers</a:t>
            </a:r>
            <a:endParaRPr lang="en-US" sz="1300"/>
          </a:p>
        </p:txBody>
      </p:sp>
      <p:sp>
        <p:nvSpPr>
          <p:cNvPr id="36" name="Text 33"/>
          <p:cNvSpPr txBox="1"/>
          <p:nvPr/>
        </p:nvSpPr>
        <p:spPr>
          <a:xfrm>
            <a:off x="457200" y="4023360"/>
            <a:ext cx="8229600" cy="548640"/>
          </a:xfrm>
          <a:prstGeom prst="rect">
            <a:avLst/>
          </a:prstGeom>
          <a:noFill/>
          <a:ln/>
        </p:spPr>
        <p:txBody>
          <a:bodyPr wrap="square" lIns="0" tIns="0" rIns="0" bIns="0" rtlCol="0" anchor="ctr"/>
          <a:lstStyle/>
          <a:p>
            <a:r>
              <a:rPr lang="en-US" sz="1500">
                <a:solidFill>
                  <a:srgbClr val="1F6FB2"/>
                </a:solidFill>
                <a:ea typeface="+mn-lt"/>
                <a:cs typeface="+mn-lt"/>
              </a:rPr>
              <a:t>Encryption and access controls remain essential, but they do not by themselves resolve retention, vendor-use, governance, monitoring, or broader privacy-accountability questions.</a:t>
            </a:r>
            <a:endParaRPr lang="en-US">
              <a:ea typeface="+mn-lt"/>
              <a:cs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0B1F3A"/>
                </a:solidFill>
                <a:latin typeface="Calibri" pitchFamily="34" charset="0"/>
                <a:ea typeface="Calibri" pitchFamily="34" charset="-122"/>
                <a:cs typeface="Calibri" pitchFamily="34" charset="-120"/>
              </a:rPr>
              <a:t>Priority Investment: Comprehensive Privacy Monitoring and Reporting</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Shape 3"/>
          <p:cNvSpPr/>
          <p:nvPr/>
        </p:nvSpPr>
        <p:spPr>
          <a:xfrm>
            <a:off x="457200" y="1325880"/>
            <a:ext cx="2606040" cy="777240"/>
          </a:xfrm>
          <a:prstGeom prst="roundRect">
            <a:avLst>
              <a:gd name="adj" fmla="val 9412"/>
            </a:avLst>
          </a:prstGeom>
          <a:solidFill>
            <a:srgbClr val="EAF1F8"/>
          </a:solidFill>
          <a:ln w="12700">
            <a:solidFill>
              <a:srgbClr val="EAF1F8"/>
            </a:solidFill>
            <a:prstDash val="solid"/>
          </a:ln>
        </p:spPr>
      </p:sp>
      <p:sp>
        <p:nvSpPr>
          <p:cNvPr id="7" name="Text 4"/>
          <p:cNvSpPr txBox="1"/>
          <p:nvPr/>
        </p:nvSpPr>
        <p:spPr>
          <a:xfrm>
            <a:off x="566928" y="1325880"/>
            <a:ext cx="2386584" cy="777240"/>
          </a:xfrm>
          <a:prstGeom prst="rect">
            <a:avLst/>
          </a:prstGeom>
          <a:noFill/>
          <a:ln/>
        </p:spPr>
        <p:txBody>
          <a:bodyPr wrap="square" lIns="0" tIns="0" rIns="0" bIns="0" rtlCol="0" anchor="ctr"/>
          <a:lstStyle/>
          <a:p>
            <a:pPr marL="0" indent="0">
              <a:buNone/>
            </a:pPr>
            <a:r>
              <a:rPr lang="en-US" sz="1400" b="1">
                <a:solidFill>
                  <a:srgbClr val="0B1F3A"/>
                </a:solidFill>
                <a:latin typeface="Calibri" pitchFamily="34" charset="0"/>
                <a:ea typeface="Calibri" pitchFamily="34" charset="-122"/>
                <a:cs typeface="Calibri" pitchFamily="34" charset="-120"/>
              </a:rPr>
              <a:t>Supports continuous monitoring</a:t>
            </a:r>
            <a:endParaRPr lang="en-US" sz="1400"/>
          </a:p>
        </p:txBody>
      </p:sp>
      <p:sp>
        <p:nvSpPr>
          <p:cNvPr id="8" name="Shape 5"/>
          <p:cNvSpPr/>
          <p:nvPr/>
        </p:nvSpPr>
        <p:spPr>
          <a:xfrm>
            <a:off x="3246120" y="1325880"/>
            <a:ext cx="2606040" cy="777240"/>
          </a:xfrm>
          <a:prstGeom prst="roundRect">
            <a:avLst>
              <a:gd name="adj" fmla="val 9412"/>
            </a:avLst>
          </a:prstGeom>
          <a:solidFill>
            <a:srgbClr val="EAF1F8"/>
          </a:solidFill>
          <a:ln w="12700">
            <a:solidFill>
              <a:srgbClr val="EAF1F8"/>
            </a:solidFill>
            <a:prstDash val="solid"/>
          </a:ln>
        </p:spPr>
      </p:sp>
      <p:sp>
        <p:nvSpPr>
          <p:cNvPr id="9" name="Text 6"/>
          <p:cNvSpPr txBox="1"/>
          <p:nvPr/>
        </p:nvSpPr>
        <p:spPr>
          <a:xfrm>
            <a:off x="3355848" y="1325880"/>
            <a:ext cx="2386584" cy="777240"/>
          </a:xfrm>
          <a:prstGeom prst="rect">
            <a:avLst/>
          </a:prstGeom>
          <a:noFill/>
          <a:ln/>
        </p:spPr>
        <p:txBody>
          <a:bodyPr wrap="square" lIns="0" tIns="0" rIns="0" bIns="0" rtlCol="0" anchor="ctr"/>
          <a:lstStyle/>
          <a:p>
            <a:pPr marL="0" indent="0">
              <a:buNone/>
            </a:pPr>
            <a:r>
              <a:rPr lang="en-US" sz="1400" b="1">
                <a:solidFill>
                  <a:srgbClr val="0B1F3A"/>
                </a:solidFill>
                <a:latin typeface="Calibri" pitchFamily="34" charset="0"/>
                <a:ea typeface="Calibri" pitchFamily="34" charset="-122"/>
                <a:cs typeface="Calibri" pitchFamily="34" charset="-120"/>
              </a:rPr>
              <a:t>Improves visibility</a:t>
            </a:r>
            <a:endParaRPr lang="en-US" sz="1400"/>
          </a:p>
        </p:txBody>
      </p:sp>
      <p:sp>
        <p:nvSpPr>
          <p:cNvPr id="10" name="Shape 7"/>
          <p:cNvSpPr/>
          <p:nvPr/>
        </p:nvSpPr>
        <p:spPr>
          <a:xfrm>
            <a:off x="6035040" y="1325880"/>
            <a:ext cx="2606040" cy="777240"/>
          </a:xfrm>
          <a:prstGeom prst="roundRect">
            <a:avLst>
              <a:gd name="adj" fmla="val 9412"/>
            </a:avLst>
          </a:prstGeom>
          <a:solidFill>
            <a:srgbClr val="EAF1F8"/>
          </a:solidFill>
          <a:ln w="12700">
            <a:solidFill>
              <a:srgbClr val="EAF1F8"/>
            </a:solidFill>
            <a:prstDash val="solid"/>
          </a:ln>
        </p:spPr>
      </p:sp>
      <p:sp>
        <p:nvSpPr>
          <p:cNvPr id="11" name="Text 8"/>
          <p:cNvSpPr txBox="1"/>
          <p:nvPr/>
        </p:nvSpPr>
        <p:spPr>
          <a:xfrm>
            <a:off x="6144768" y="1325880"/>
            <a:ext cx="2386584" cy="777240"/>
          </a:xfrm>
          <a:prstGeom prst="rect">
            <a:avLst/>
          </a:prstGeom>
          <a:noFill/>
          <a:ln/>
        </p:spPr>
        <p:txBody>
          <a:bodyPr wrap="square" lIns="0" tIns="0" rIns="0" bIns="0" rtlCol="0" anchor="ctr"/>
          <a:lstStyle/>
          <a:p>
            <a:pPr marL="0" indent="0">
              <a:buNone/>
            </a:pPr>
            <a:r>
              <a:rPr lang="en-US" sz="1400" b="1">
                <a:solidFill>
                  <a:srgbClr val="0B1F3A"/>
                </a:solidFill>
                <a:latin typeface="Calibri" pitchFamily="34" charset="0"/>
                <a:ea typeface="Calibri" pitchFamily="34" charset="-122"/>
                <a:cs typeface="Calibri" pitchFamily="34" charset="-120"/>
              </a:rPr>
              <a:t>Helps investigation</a:t>
            </a:r>
            <a:endParaRPr lang="en-US" sz="1400"/>
          </a:p>
        </p:txBody>
      </p:sp>
      <p:sp>
        <p:nvSpPr>
          <p:cNvPr id="12" name="Shape 9"/>
          <p:cNvSpPr/>
          <p:nvPr/>
        </p:nvSpPr>
        <p:spPr>
          <a:xfrm>
            <a:off x="457200" y="2240280"/>
            <a:ext cx="2606040" cy="777240"/>
          </a:xfrm>
          <a:prstGeom prst="roundRect">
            <a:avLst>
              <a:gd name="adj" fmla="val 9412"/>
            </a:avLst>
          </a:prstGeom>
          <a:solidFill>
            <a:srgbClr val="EAF1F8"/>
          </a:solidFill>
          <a:ln w="12700">
            <a:solidFill>
              <a:srgbClr val="EAF1F8"/>
            </a:solidFill>
            <a:prstDash val="solid"/>
          </a:ln>
        </p:spPr>
      </p:sp>
      <p:sp>
        <p:nvSpPr>
          <p:cNvPr id="13" name="Text 10"/>
          <p:cNvSpPr txBox="1"/>
          <p:nvPr/>
        </p:nvSpPr>
        <p:spPr>
          <a:xfrm>
            <a:off x="566928" y="2240280"/>
            <a:ext cx="2386584" cy="777240"/>
          </a:xfrm>
          <a:prstGeom prst="rect">
            <a:avLst/>
          </a:prstGeom>
          <a:noFill/>
          <a:ln/>
        </p:spPr>
        <p:txBody>
          <a:bodyPr wrap="square" lIns="0" tIns="0" rIns="0" bIns="0" rtlCol="0" anchor="ctr"/>
          <a:lstStyle/>
          <a:p>
            <a:pPr marL="0" indent="0">
              <a:buNone/>
            </a:pPr>
            <a:r>
              <a:rPr lang="en-US" sz="1400" b="1">
                <a:solidFill>
                  <a:srgbClr val="0B1F3A"/>
                </a:solidFill>
                <a:latin typeface="Calibri" pitchFamily="34" charset="0"/>
                <a:ea typeface="Calibri" pitchFamily="34" charset="-122"/>
                <a:cs typeface="Calibri" pitchFamily="34" charset="-120"/>
              </a:rPr>
              <a:t>Provides management reporting</a:t>
            </a:r>
            <a:endParaRPr lang="en-US" sz="1400"/>
          </a:p>
        </p:txBody>
      </p:sp>
      <p:sp>
        <p:nvSpPr>
          <p:cNvPr id="14" name="Shape 11"/>
          <p:cNvSpPr/>
          <p:nvPr/>
        </p:nvSpPr>
        <p:spPr>
          <a:xfrm>
            <a:off x="3246120" y="2240280"/>
            <a:ext cx="2606040" cy="777240"/>
          </a:xfrm>
          <a:prstGeom prst="roundRect">
            <a:avLst>
              <a:gd name="adj" fmla="val 9412"/>
            </a:avLst>
          </a:prstGeom>
          <a:solidFill>
            <a:srgbClr val="EAF1F8"/>
          </a:solidFill>
          <a:ln w="12700">
            <a:solidFill>
              <a:srgbClr val="EAF1F8"/>
            </a:solidFill>
            <a:prstDash val="solid"/>
          </a:ln>
        </p:spPr>
      </p:sp>
      <p:sp>
        <p:nvSpPr>
          <p:cNvPr id="15" name="Text 12"/>
          <p:cNvSpPr txBox="1"/>
          <p:nvPr/>
        </p:nvSpPr>
        <p:spPr>
          <a:xfrm>
            <a:off x="3355848" y="2240280"/>
            <a:ext cx="2386584" cy="777240"/>
          </a:xfrm>
          <a:prstGeom prst="rect">
            <a:avLst/>
          </a:prstGeom>
          <a:noFill/>
          <a:ln/>
        </p:spPr>
        <p:txBody>
          <a:bodyPr wrap="square" lIns="0" tIns="0" rIns="0" bIns="0" rtlCol="0" anchor="ctr"/>
          <a:lstStyle/>
          <a:p>
            <a:pPr marL="0" indent="0">
              <a:buNone/>
            </a:pPr>
            <a:r>
              <a:rPr lang="en-US" sz="1400" b="1">
                <a:solidFill>
                  <a:srgbClr val="0B1F3A"/>
                </a:solidFill>
                <a:latin typeface="Calibri" pitchFamily="34" charset="0"/>
                <a:ea typeface="Calibri" pitchFamily="34" charset="-122"/>
                <a:cs typeface="Calibri" pitchFamily="34" charset="-120"/>
              </a:rPr>
              <a:t>Supports privacy accountability</a:t>
            </a:r>
            <a:endParaRPr lang="en-US" sz="1400"/>
          </a:p>
        </p:txBody>
      </p:sp>
      <p:sp>
        <p:nvSpPr>
          <p:cNvPr id="16" name="Shape 13"/>
          <p:cNvSpPr/>
          <p:nvPr/>
        </p:nvSpPr>
        <p:spPr>
          <a:xfrm>
            <a:off x="6035040" y="2240280"/>
            <a:ext cx="2606040" cy="777240"/>
          </a:xfrm>
          <a:prstGeom prst="roundRect">
            <a:avLst>
              <a:gd name="adj" fmla="val 9412"/>
            </a:avLst>
          </a:prstGeom>
          <a:solidFill>
            <a:srgbClr val="EAF1F8"/>
          </a:solidFill>
          <a:ln w="12700">
            <a:solidFill>
              <a:srgbClr val="EAF1F8"/>
            </a:solidFill>
            <a:prstDash val="solid"/>
          </a:ln>
        </p:spPr>
      </p:sp>
      <p:sp>
        <p:nvSpPr>
          <p:cNvPr id="17" name="Text 14"/>
          <p:cNvSpPr txBox="1"/>
          <p:nvPr/>
        </p:nvSpPr>
        <p:spPr>
          <a:xfrm>
            <a:off x="6144768" y="2240280"/>
            <a:ext cx="2386584" cy="777240"/>
          </a:xfrm>
          <a:prstGeom prst="rect">
            <a:avLst/>
          </a:prstGeom>
          <a:noFill/>
          <a:ln/>
        </p:spPr>
        <p:txBody>
          <a:bodyPr wrap="square" lIns="0" tIns="0" rIns="0" bIns="0" rtlCol="0" anchor="ctr"/>
          <a:lstStyle/>
          <a:p>
            <a:pPr marL="0" indent="0">
              <a:buNone/>
            </a:pPr>
            <a:r>
              <a:rPr lang="en-US" sz="1400" b="1">
                <a:solidFill>
                  <a:srgbClr val="0B1F3A"/>
                </a:solidFill>
                <a:latin typeface="Calibri" pitchFamily="34" charset="0"/>
                <a:ea typeface="Calibri" pitchFamily="34" charset="-122"/>
                <a:cs typeface="Calibri" pitchFamily="34" charset="-120"/>
              </a:rPr>
              <a:t>Helps determine whether controls are working</a:t>
            </a:r>
            <a:endParaRPr lang="en-US" sz="1400"/>
          </a:p>
        </p:txBody>
      </p:sp>
      <p:sp>
        <p:nvSpPr>
          <p:cNvPr id="18" name="Shape 15"/>
          <p:cNvSpPr/>
          <p:nvPr/>
        </p:nvSpPr>
        <p:spPr>
          <a:xfrm>
            <a:off x="457200" y="3291840"/>
            <a:ext cx="8229600" cy="1234440"/>
          </a:xfrm>
          <a:prstGeom prst="roundRect">
            <a:avLst>
              <a:gd name="adj" fmla="val 5926"/>
            </a:avLst>
          </a:prstGeom>
          <a:solidFill>
            <a:srgbClr val="FFFFFF"/>
          </a:solidFill>
          <a:ln w="25400">
            <a:solidFill>
              <a:srgbClr val="E0A030"/>
            </a:solidFill>
            <a:prstDash val="solid"/>
          </a:ln>
        </p:spPr>
      </p:sp>
      <p:sp>
        <p:nvSpPr>
          <p:cNvPr id="19" name="Text 16"/>
          <p:cNvSpPr txBox="1"/>
          <p:nvPr/>
        </p:nvSpPr>
        <p:spPr>
          <a:xfrm>
            <a:off x="640080" y="3291840"/>
            <a:ext cx="7863840" cy="1234440"/>
          </a:xfrm>
          <a:prstGeom prst="rect">
            <a:avLst/>
          </a:prstGeom>
          <a:noFill/>
          <a:ln/>
        </p:spPr>
        <p:txBody>
          <a:bodyPr wrap="square" lIns="0" tIns="0" rIns="0" bIns="0" rtlCol="0" anchor="ctr"/>
          <a:lstStyle/>
          <a:p>
            <a:pPr marL="0" indent="0">
              <a:buNone/>
            </a:pPr>
            <a:r>
              <a:rPr lang="en-US" sz="1500" b="1">
                <a:solidFill>
                  <a:srgbClr val="E0A030"/>
                </a:solidFill>
                <a:latin typeface="Calibri" pitchFamily="34" charset="0"/>
                <a:ea typeface="Calibri" pitchFamily="34" charset="-122"/>
                <a:cs typeface="Calibri" pitchFamily="34" charset="-120"/>
              </a:rPr>
              <a:t>Tradeoff</a:t>
            </a:r>
            <a:endParaRPr lang="en-US" sz="1500"/>
          </a:p>
          <a:p>
            <a:pPr marL="0" indent="0">
              <a:buNone/>
            </a:pPr>
            <a:r>
              <a:rPr lang="en-US" sz="1500">
                <a:solidFill>
                  <a:srgbClr val="0B1F3A"/>
                </a:solidFill>
                <a:latin typeface="Calibri" pitchFamily="34" charset="0"/>
                <a:ea typeface="Calibri" pitchFamily="34" charset="-122"/>
                <a:cs typeface="Calibri" pitchFamily="34" charset="-120"/>
              </a:rPr>
              <a:t>Advanced encryption and access-control improvements remain important and required, but some investment is delayed.</a:t>
            </a:r>
            <a:endParaRPr lang="en-US"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0B1F3A"/>
                </a:solidFill>
                <a:latin typeface="Calibri" pitchFamily="34" charset="0"/>
                <a:ea typeface="Calibri" pitchFamily="34" charset="-122"/>
                <a:cs typeface="Calibri" pitchFamily="34" charset="-120"/>
              </a:rPr>
              <a:t>Accountability</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Shape 3"/>
          <p:cNvSpPr/>
          <p:nvPr/>
        </p:nvSpPr>
        <p:spPr>
          <a:xfrm>
            <a:off x="457200" y="1234440"/>
            <a:ext cx="2606040" cy="1051560"/>
          </a:xfrm>
          <a:prstGeom prst="roundRect">
            <a:avLst>
              <a:gd name="adj" fmla="val 6957"/>
            </a:avLst>
          </a:prstGeom>
          <a:solidFill>
            <a:srgbClr val="EAF1F8"/>
          </a:solidFill>
          <a:ln w="12700">
            <a:solidFill>
              <a:srgbClr val="EAF1F8"/>
            </a:solidFill>
            <a:prstDash val="solid"/>
          </a:ln>
        </p:spPr>
      </p:sp>
      <p:sp>
        <p:nvSpPr>
          <p:cNvPr id="7" name="Text 4"/>
          <p:cNvSpPr txBox="1"/>
          <p:nvPr/>
        </p:nvSpPr>
        <p:spPr>
          <a:xfrm>
            <a:off x="594360" y="1325880"/>
            <a:ext cx="2286000" cy="411480"/>
          </a:xfrm>
          <a:prstGeom prst="rect">
            <a:avLst/>
          </a:prstGeom>
          <a:noFill/>
          <a:ln/>
        </p:spPr>
        <p:txBody>
          <a:bodyPr wrap="square" lIns="0" tIns="0" rIns="0" bIns="0" rtlCol="0" anchor="ctr"/>
          <a:lstStyle/>
          <a:p>
            <a:pPr marL="0" indent="0">
              <a:buNone/>
            </a:pPr>
            <a:r>
              <a:rPr lang="en-US" sz="2000" b="1">
                <a:solidFill>
                  <a:srgbClr val="1F6FB2"/>
                </a:solidFill>
                <a:latin typeface="Calibri" pitchFamily="34" charset="0"/>
                <a:ea typeface="Calibri" pitchFamily="34" charset="-122"/>
                <a:cs typeface="Calibri" pitchFamily="34" charset="-120"/>
              </a:rPr>
              <a:t>CIO</a:t>
            </a:r>
            <a:endParaRPr lang="en-US" sz="2000"/>
          </a:p>
        </p:txBody>
      </p:sp>
      <p:sp>
        <p:nvSpPr>
          <p:cNvPr id="8" name="Text 5"/>
          <p:cNvSpPr txBox="1"/>
          <p:nvPr/>
        </p:nvSpPr>
        <p:spPr>
          <a:xfrm>
            <a:off x="594360" y="1737360"/>
            <a:ext cx="2331720" cy="45720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Technology and architecture</a:t>
            </a:r>
            <a:endParaRPr lang="en-US" sz="1300"/>
          </a:p>
        </p:txBody>
      </p:sp>
      <p:sp>
        <p:nvSpPr>
          <p:cNvPr id="9" name="Shape 6"/>
          <p:cNvSpPr/>
          <p:nvPr/>
        </p:nvSpPr>
        <p:spPr>
          <a:xfrm>
            <a:off x="3246120" y="1234440"/>
            <a:ext cx="2606040" cy="1051560"/>
          </a:xfrm>
          <a:prstGeom prst="roundRect">
            <a:avLst>
              <a:gd name="adj" fmla="val 6957"/>
            </a:avLst>
          </a:prstGeom>
          <a:solidFill>
            <a:srgbClr val="EAF1F8"/>
          </a:solidFill>
          <a:ln w="12700">
            <a:solidFill>
              <a:srgbClr val="EAF1F8"/>
            </a:solidFill>
            <a:prstDash val="solid"/>
          </a:ln>
        </p:spPr>
      </p:sp>
      <p:sp>
        <p:nvSpPr>
          <p:cNvPr id="10" name="Text 7"/>
          <p:cNvSpPr txBox="1"/>
          <p:nvPr/>
        </p:nvSpPr>
        <p:spPr>
          <a:xfrm>
            <a:off x="3383280" y="1325880"/>
            <a:ext cx="2286000" cy="411480"/>
          </a:xfrm>
          <a:prstGeom prst="rect">
            <a:avLst/>
          </a:prstGeom>
          <a:noFill/>
          <a:ln/>
        </p:spPr>
        <p:txBody>
          <a:bodyPr wrap="square" lIns="0" tIns="0" rIns="0" bIns="0" rtlCol="0" anchor="ctr"/>
          <a:lstStyle/>
          <a:p>
            <a:pPr marL="0" indent="0">
              <a:buNone/>
            </a:pPr>
            <a:r>
              <a:rPr lang="en-US" sz="2000" b="1">
                <a:solidFill>
                  <a:srgbClr val="1F6FB2"/>
                </a:solidFill>
                <a:latin typeface="Calibri" pitchFamily="34" charset="0"/>
                <a:ea typeface="Calibri" pitchFamily="34" charset="-122"/>
                <a:cs typeface="Calibri" pitchFamily="34" charset="-120"/>
              </a:rPr>
              <a:t>CISO</a:t>
            </a:r>
            <a:endParaRPr lang="en-US" sz="2000"/>
          </a:p>
        </p:txBody>
      </p:sp>
      <p:sp>
        <p:nvSpPr>
          <p:cNvPr id="11" name="Text 8"/>
          <p:cNvSpPr txBox="1"/>
          <p:nvPr/>
        </p:nvSpPr>
        <p:spPr>
          <a:xfrm>
            <a:off x="3383280" y="1737360"/>
            <a:ext cx="2331720" cy="45720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Security and investigation</a:t>
            </a:r>
            <a:endParaRPr lang="en-US" sz="1300"/>
          </a:p>
        </p:txBody>
      </p:sp>
      <p:sp>
        <p:nvSpPr>
          <p:cNvPr id="12" name="Shape 9"/>
          <p:cNvSpPr/>
          <p:nvPr/>
        </p:nvSpPr>
        <p:spPr>
          <a:xfrm>
            <a:off x="6035040" y="1234440"/>
            <a:ext cx="2606040" cy="1051560"/>
          </a:xfrm>
          <a:prstGeom prst="roundRect">
            <a:avLst>
              <a:gd name="adj" fmla="val 6957"/>
            </a:avLst>
          </a:prstGeom>
          <a:solidFill>
            <a:srgbClr val="EAF1F8"/>
          </a:solidFill>
          <a:ln w="12700">
            <a:solidFill>
              <a:srgbClr val="EAF1F8"/>
            </a:solidFill>
            <a:prstDash val="solid"/>
          </a:ln>
        </p:spPr>
      </p:sp>
      <p:sp>
        <p:nvSpPr>
          <p:cNvPr id="13" name="Text 10"/>
          <p:cNvSpPr txBox="1"/>
          <p:nvPr/>
        </p:nvSpPr>
        <p:spPr>
          <a:xfrm>
            <a:off x="6172200" y="1325880"/>
            <a:ext cx="2286000" cy="411480"/>
          </a:xfrm>
          <a:prstGeom prst="rect">
            <a:avLst/>
          </a:prstGeom>
          <a:noFill/>
          <a:ln/>
        </p:spPr>
        <p:txBody>
          <a:bodyPr wrap="square" lIns="0" tIns="0" rIns="0" bIns="0" rtlCol="0" anchor="ctr"/>
          <a:lstStyle/>
          <a:p>
            <a:pPr marL="0" indent="0">
              <a:buNone/>
            </a:pPr>
            <a:r>
              <a:rPr lang="en-US" sz="2000" b="1">
                <a:solidFill>
                  <a:srgbClr val="1F6FB2"/>
                </a:solidFill>
                <a:latin typeface="Calibri" pitchFamily="34" charset="0"/>
                <a:ea typeface="Calibri" pitchFamily="34" charset="-122"/>
                <a:cs typeface="Calibri" pitchFamily="34" charset="-120"/>
              </a:rPr>
              <a:t>Privacy</a:t>
            </a:r>
            <a:endParaRPr lang="en-US" sz="2000"/>
          </a:p>
        </p:txBody>
      </p:sp>
      <p:sp>
        <p:nvSpPr>
          <p:cNvPr id="14" name="Text 11"/>
          <p:cNvSpPr txBox="1"/>
          <p:nvPr/>
        </p:nvSpPr>
        <p:spPr>
          <a:xfrm>
            <a:off x="6172200" y="1737360"/>
            <a:ext cx="2331720" cy="45720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PHI / privacy controls</a:t>
            </a:r>
            <a:endParaRPr lang="en-US" sz="1300"/>
          </a:p>
        </p:txBody>
      </p:sp>
      <p:sp>
        <p:nvSpPr>
          <p:cNvPr id="15" name="Shape 12"/>
          <p:cNvSpPr/>
          <p:nvPr/>
        </p:nvSpPr>
        <p:spPr>
          <a:xfrm>
            <a:off x="457200" y="2468880"/>
            <a:ext cx="2606040" cy="1051560"/>
          </a:xfrm>
          <a:prstGeom prst="roundRect">
            <a:avLst>
              <a:gd name="adj" fmla="val 6957"/>
            </a:avLst>
          </a:prstGeom>
          <a:solidFill>
            <a:srgbClr val="EAF1F8"/>
          </a:solidFill>
          <a:ln w="12700">
            <a:solidFill>
              <a:srgbClr val="EAF1F8"/>
            </a:solidFill>
            <a:prstDash val="solid"/>
          </a:ln>
        </p:spPr>
      </p:sp>
      <p:sp>
        <p:nvSpPr>
          <p:cNvPr id="16" name="Text 13"/>
          <p:cNvSpPr txBox="1"/>
          <p:nvPr/>
        </p:nvSpPr>
        <p:spPr>
          <a:xfrm>
            <a:off x="594360" y="2560320"/>
            <a:ext cx="2286000" cy="411480"/>
          </a:xfrm>
          <a:prstGeom prst="rect">
            <a:avLst/>
          </a:prstGeom>
          <a:noFill/>
          <a:ln/>
        </p:spPr>
        <p:txBody>
          <a:bodyPr wrap="square" lIns="0" tIns="0" rIns="0" bIns="0" rtlCol="0" anchor="ctr"/>
          <a:lstStyle/>
          <a:p>
            <a:r>
              <a:rPr lang="en-US" sz="2000" b="1" dirty="0">
                <a:solidFill>
                  <a:srgbClr val="1F6FB2"/>
                </a:solidFill>
                <a:latin typeface="Calibri"/>
                <a:ea typeface="Calibri"/>
                <a:cs typeface="Calibri"/>
              </a:rPr>
              <a:t>Legal</a:t>
            </a:r>
            <a:endParaRPr lang="en-US" sz="2000" b="1" dirty="0">
              <a:solidFill>
                <a:srgbClr val="1F6FB2"/>
              </a:solidFill>
              <a:ea typeface="Calibri"/>
              <a:cs typeface="Calibri"/>
            </a:endParaRPr>
          </a:p>
        </p:txBody>
      </p:sp>
      <p:sp>
        <p:nvSpPr>
          <p:cNvPr id="17" name="Text 14"/>
          <p:cNvSpPr txBox="1"/>
          <p:nvPr/>
        </p:nvSpPr>
        <p:spPr>
          <a:xfrm>
            <a:off x="594360" y="2971800"/>
            <a:ext cx="2331720" cy="45720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Compliance and contracts</a:t>
            </a:r>
            <a:endParaRPr lang="en-US" sz="1300"/>
          </a:p>
        </p:txBody>
      </p:sp>
      <p:sp>
        <p:nvSpPr>
          <p:cNvPr id="18" name="Shape 15"/>
          <p:cNvSpPr/>
          <p:nvPr/>
        </p:nvSpPr>
        <p:spPr>
          <a:xfrm>
            <a:off x="3246120" y="2468880"/>
            <a:ext cx="2606040" cy="1051560"/>
          </a:xfrm>
          <a:prstGeom prst="roundRect">
            <a:avLst>
              <a:gd name="adj" fmla="val 6957"/>
            </a:avLst>
          </a:prstGeom>
          <a:solidFill>
            <a:srgbClr val="EAF1F8"/>
          </a:solidFill>
          <a:ln w="12700">
            <a:solidFill>
              <a:srgbClr val="EAF1F8"/>
            </a:solidFill>
            <a:prstDash val="solid"/>
          </a:ln>
        </p:spPr>
      </p:sp>
      <p:sp>
        <p:nvSpPr>
          <p:cNvPr id="19" name="Text 16"/>
          <p:cNvSpPr txBox="1"/>
          <p:nvPr/>
        </p:nvSpPr>
        <p:spPr>
          <a:xfrm>
            <a:off x="3383280" y="2560320"/>
            <a:ext cx="2286000" cy="411480"/>
          </a:xfrm>
          <a:prstGeom prst="rect">
            <a:avLst/>
          </a:prstGeom>
          <a:noFill/>
          <a:ln/>
        </p:spPr>
        <p:txBody>
          <a:bodyPr wrap="square" lIns="0" tIns="0" rIns="0" bIns="0" rtlCol="0" anchor="ctr"/>
          <a:lstStyle/>
          <a:p>
            <a:r>
              <a:rPr lang="en-US" sz="2000" b="1">
                <a:solidFill>
                  <a:srgbClr val="1F6FB2"/>
                </a:solidFill>
                <a:latin typeface="Calibri"/>
                <a:ea typeface="Calibri"/>
                <a:cs typeface="Calibri"/>
              </a:rPr>
              <a:t>CFO</a:t>
            </a:r>
            <a:endParaRPr lang="en-US" sz="2000" dirty="0" err="1"/>
          </a:p>
        </p:txBody>
      </p:sp>
      <p:sp>
        <p:nvSpPr>
          <p:cNvPr id="20" name="Text 17"/>
          <p:cNvSpPr txBox="1"/>
          <p:nvPr/>
        </p:nvSpPr>
        <p:spPr>
          <a:xfrm>
            <a:off x="3383280" y="2971800"/>
            <a:ext cx="2331720" cy="45720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Investment and financial impact</a:t>
            </a:r>
            <a:endParaRPr lang="en-US" sz="1300"/>
          </a:p>
        </p:txBody>
      </p:sp>
      <p:sp>
        <p:nvSpPr>
          <p:cNvPr id="21" name="Shape 18"/>
          <p:cNvSpPr/>
          <p:nvPr/>
        </p:nvSpPr>
        <p:spPr>
          <a:xfrm>
            <a:off x="6035040" y="2468880"/>
            <a:ext cx="2606040" cy="1051560"/>
          </a:xfrm>
          <a:prstGeom prst="roundRect">
            <a:avLst>
              <a:gd name="adj" fmla="val 6957"/>
            </a:avLst>
          </a:prstGeom>
          <a:solidFill>
            <a:srgbClr val="EAF1F8"/>
          </a:solidFill>
          <a:ln w="12700">
            <a:solidFill>
              <a:srgbClr val="EAF1F8"/>
            </a:solidFill>
            <a:prstDash val="solid"/>
          </a:ln>
        </p:spPr>
      </p:sp>
      <p:sp>
        <p:nvSpPr>
          <p:cNvPr id="22" name="Text 19"/>
          <p:cNvSpPr txBox="1"/>
          <p:nvPr/>
        </p:nvSpPr>
        <p:spPr>
          <a:xfrm>
            <a:off x="6172200" y="2560320"/>
            <a:ext cx="2286000" cy="411480"/>
          </a:xfrm>
          <a:prstGeom prst="rect">
            <a:avLst/>
          </a:prstGeom>
          <a:noFill/>
          <a:ln/>
        </p:spPr>
        <p:txBody>
          <a:bodyPr wrap="square" lIns="0" tIns="0" rIns="0" bIns="0" rtlCol="0" anchor="ctr"/>
          <a:lstStyle/>
          <a:p>
            <a:pPr marL="0" indent="0">
              <a:buNone/>
            </a:pPr>
            <a:r>
              <a:rPr lang="en-US" sz="2000" b="1">
                <a:solidFill>
                  <a:srgbClr val="1F6FB2"/>
                </a:solidFill>
                <a:latin typeface="Calibri" pitchFamily="34" charset="0"/>
                <a:ea typeface="Calibri" pitchFamily="34" charset="-122"/>
                <a:cs typeface="Calibri" pitchFamily="34" charset="-120"/>
              </a:rPr>
              <a:t>Operations</a:t>
            </a:r>
            <a:endParaRPr lang="en-US" sz="2000"/>
          </a:p>
        </p:txBody>
      </p:sp>
      <p:sp>
        <p:nvSpPr>
          <p:cNvPr id="23" name="Text 20"/>
          <p:cNvSpPr txBox="1"/>
          <p:nvPr/>
        </p:nvSpPr>
        <p:spPr>
          <a:xfrm>
            <a:off x="6172200" y="2971800"/>
            <a:ext cx="2331720" cy="457200"/>
          </a:xfrm>
          <a:prstGeom prst="rect">
            <a:avLst/>
          </a:prstGeom>
          <a:noFill/>
          <a:ln/>
        </p:spPr>
        <p:txBody>
          <a:bodyPr wrap="square" lIns="0" tIns="0" rIns="0" bIns="0" rtlCol="0" anchor="ctr"/>
          <a:lstStyle/>
          <a:p>
            <a:pPr marL="0" indent="0">
              <a:buNone/>
            </a:pPr>
            <a:r>
              <a:rPr lang="en-US" sz="1300">
                <a:solidFill>
                  <a:srgbClr val="0B1F3A"/>
                </a:solidFill>
                <a:latin typeface="Calibri" pitchFamily="34" charset="0"/>
                <a:ea typeface="Calibri" pitchFamily="34" charset="-122"/>
                <a:cs typeface="Calibri" pitchFamily="34" charset="-120"/>
              </a:rPr>
              <a:t>Workflow implementation</a:t>
            </a:r>
            <a:endParaRPr lang="en-US" sz="1300"/>
          </a:p>
        </p:txBody>
      </p:sp>
      <p:sp>
        <p:nvSpPr>
          <p:cNvPr id="24" name="Shape 21"/>
          <p:cNvSpPr/>
          <p:nvPr/>
        </p:nvSpPr>
        <p:spPr>
          <a:xfrm>
            <a:off x="457200" y="3840480"/>
            <a:ext cx="8229600" cy="731520"/>
          </a:xfrm>
          <a:prstGeom prst="roundRect">
            <a:avLst>
              <a:gd name="adj" fmla="val 10000"/>
            </a:avLst>
          </a:prstGeom>
          <a:solidFill>
            <a:srgbClr val="0B1F3A"/>
          </a:solidFill>
          <a:ln w="12700">
            <a:solidFill>
              <a:srgbClr val="0B1F3A"/>
            </a:solidFill>
            <a:prstDash val="solid"/>
          </a:ln>
        </p:spPr>
      </p:sp>
      <p:sp>
        <p:nvSpPr>
          <p:cNvPr id="25" name="Text 22"/>
          <p:cNvSpPr txBox="1"/>
          <p:nvPr/>
        </p:nvSpPr>
        <p:spPr>
          <a:xfrm>
            <a:off x="566928" y="3840480"/>
            <a:ext cx="8010144" cy="73152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Meridian cannot outsource accountability to the vendor.</a:t>
            </a:r>
            <a:endParaRPr 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What Leadership Should Authorize Today</a:t>
            </a:r>
            <a:endParaRPr lang="en-US" sz="2800"/>
          </a:p>
        </p:txBody>
      </p:sp>
      <p:sp>
        <p:nvSpPr>
          <p:cNvPr id="3" name="Shape 1"/>
          <p:cNvSpPr/>
          <p:nvPr/>
        </p:nvSpPr>
        <p:spPr>
          <a:xfrm>
            <a:off x="457200" y="914400"/>
            <a:ext cx="1097280" cy="54864"/>
          </a:xfrm>
          <a:prstGeom prst="rect">
            <a:avLst/>
          </a:prstGeom>
          <a:solidFill>
            <a:srgbClr val="E0A030"/>
          </a:solidFill>
          <a:ln w="12700">
            <a:solidFill>
              <a:srgbClr val="E0A030"/>
            </a:solidFill>
            <a:prstDash val="solid"/>
          </a:ln>
        </p:spPr>
      </p:sp>
      <p:sp>
        <p:nvSpPr>
          <p:cNvPr id="6" name="Text 3"/>
          <p:cNvSpPr txBox="1"/>
          <p:nvPr/>
        </p:nvSpPr>
        <p:spPr>
          <a:xfrm>
            <a:off x="457200" y="1097280"/>
            <a:ext cx="3931920" cy="320040"/>
          </a:xfrm>
          <a:prstGeom prst="rect">
            <a:avLst/>
          </a:prstGeom>
          <a:noFill/>
          <a:ln/>
        </p:spPr>
        <p:txBody>
          <a:bodyPr wrap="square" lIns="0" tIns="0" rIns="0" bIns="0" rtlCol="0" anchor="ctr"/>
          <a:lstStyle/>
          <a:p>
            <a:pPr marL="0" indent="0">
              <a:buNone/>
            </a:pPr>
            <a:r>
              <a:rPr lang="en-US" sz="1600" b="1">
                <a:solidFill>
                  <a:srgbClr val="E0A030"/>
                </a:solidFill>
                <a:latin typeface="Calibri" pitchFamily="34" charset="0"/>
                <a:ea typeface="Calibri" pitchFamily="34" charset="-122"/>
                <a:cs typeface="Calibri" pitchFamily="34" charset="-120"/>
              </a:rPr>
              <a:t>Authorize</a:t>
            </a:r>
            <a:endParaRPr lang="en-US" sz="1600"/>
          </a:p>
        </p:txBody>
      </p:sp>
      <p:sp>
        <p:nvSpPr>
          <p:cNvPr id="7" name="Text 4"/>
          <p:cNvSpPr txBox="1"/>
          <p:nvPr/>
        </p:nvSpPr>
        <p:spPr>
          <a:xfrm>
            <a:off x="457200" y="1463040"/>
            <a:ext cx="3931920" cy="2286000"/>
          </a:xfrm>
          <a:prstGeom prst="rect">
            <a:avLst/>
          </a:prstGeom>
          <a:noFill/>
          <a:ln/>
        </p:spPr>
        <p:txBody>
          <a:bodyPr wrap="square" lIns="0" tIns="0" rIns="0" bIns="0" rtlCol="0" anchor="ctr"/>
          <a:lstStyle/>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Restricted continuation of MeridianAssist</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Initiative 2 investment</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Evidence preservation and investigation</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Vendor evidence requirements</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Cross-functional governance</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Recurring privacy / security reporting</a:t>
            </a:r>
            <a:endParaRPr lang="en-US" sz="1400"/>
          </a:p>
        </p:txBody>
      </p:sp>
      <p:sp>
        <p:nvSpPr>
          <p:cNvPr id="8" name="Text 5"/>
          <p:cNvSpPr txBox="1"/>
          <p:nvPr/>
        </p:nvSpPr>
        <p:spPr>
          <a:xfrm>
            <a:off x="4754880" y="1097280"/>
            <a:ext cx="3931920" cy="320040"/>
          </a:xfrm>
          <a:prstGeom prst="rect">
            <a:avLst/>
          </a:prstGeom>
          <a:noFill/>
          <a:ln/>
        </p:spPr>
        <p:txBody>
          <a:bodyPr wrap="square" lIns="0" tIns="0" rIns="0" bIns="0" rtlCol="0" anchor="ctr"/>
          <a:lstStyle/>
          <a:p>
            <a:pPr marL="0" indent="0">
              <a:buNone/>
            </a:pPr>
            <a:r>
              <a:rPr lang="en-US" sz="1600" b="1">
                <a:solidFill>
                  <a:srgbClr val="C8553D"/>
                </a:solidFill>
                <a:latin typeface="Calibri" pitchFamily="34" charset="0"/>
                <a:ea typeface="Calibri" pitchFamily="34" charset="-122"/>
                <a:cs typeface="Calibri" pitchFamily="34" charset="-120"/>
              </a:rPr>
              <a:t>Decision-change triggers</a:t>
            </a:r>
            <a:endParaRPr lang="en-US" sz="1600"/>
          </a:p>
        </p:txBody>
      </p:sp>
      <p:sp>
        <p:nvSpPr>
          <p:cNvPr id="9" name="Text 6"/>
          <p:cNvSpPr txBox="1"/>
          <p:nvPr/>
        </p:nvSpPr>
        <p:spPr>
          <a:xfrm>
            <a:off x="4754880" y="1463040"/>
            <a:ext cx="3931920" cy="2286000"/>
          </a:xfrm>
          <a:prstGeom prst="rect">
            <a:avLst/>
          </a:prstGeom>
          <a:noFill/>
          <a:ln/>
        </p:spPr>
        <p:txBody>
          <a:bodyPr wrap="square" lIns="0" tIns="0" rIns="0" bIns="0" rtlCol="0" anchor="ctr"/>
          <a:lstStyle/>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Confirmed unauthorized PHI disclosure</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Repeatable data leakage</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Ineffective safeguards</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Uncontrolled sensitive-data access</a:t>
            </a:r>
            <a:endParaRPr lang="en-US" sz="1400"/>
          </a:p>
          <a:p>
            <a:pPr marL="342900" indent="-342900">
              <a:spcAft>
                <a:spcPts val="500"/>
              </a:spcAft>
              <a:buSzPct val="100000"/>
              <a:buChar char="•"/>
            </a:pPr>
            <a:r>
              <a:rPr lang="en-US" sz="1400">
                <a:solidFill>
                  <a:srgbClr val="FFFFFF"/>
                </a:solidFill>
                <a:latin typeface="Calibri" pitchFamily="34" charset="0"/>
                <a:ea typeface="Calibri" pitchFamily="34" charset="-122"/>
                <a:cs typeface="Calibri" pitchFamily="34" charset="-120"/>
              </a:rPr>
              <a:t>Vendor cannot provide required evidence</a:t>
            </a:r>
            <a:endParaRPr lang="en-US" sz="1400"/>
          </a:p>
        </p:txBody>
      </p:sp>
      <p:sp>
        <p:nvSpPr>
          <p:cNvPr id="10" name="Shape 7"/>
          <p:cNvSpPr/>
          <p:nvPr/>
        </p:nvSpPr>
        <p:spPr>
          <a:xfrm>
            <a:off x="457200" y="3840480"/>
            <a:ext cx="8229600" cy="777240"/>
          </a:xfrm>
          <a:prstGeom prst="roundRect">
            <a:avLst>
              <a:gd name="adj" fmla="val 9412"/>
            </a:avLst>
          </a:prstGeom>
          <a:solidFill>
            <a:srgbClr val="1F6FB2"/>
          </a:solidFill>
          <a:ln w="12700">
            <a:solidFill>
              <a:srgbClr val="1F6FB2"/>
            </a:solidFill>
            <a:prstDash val="solid"/>
          </a:ln>
        </p:spPr>
      </p:sp>
      <p:sp>
        <p:nvSpPr>
          <p:cNvPr id="11" name="Text 8"/>
          <p:cNvSpPr txBox="1"/>
          <p:nvPr/>
        </p:nvSpPr>
        <p:spPr>
          <a:xfrm>
            <a:off x="566928" y="3840480"/>
            <a:ext cx="8010144" cy="77724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Continue under control. Monitor continuously. Investigate completely. Suspend when evidence requires it.</a:t>
            </a:r>
            <a:endParaRPr lang="en-US" sz="1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11</cp:revision>
  <dcterms:created xsi:type="dcterms:W3CDTF">2026-10-03T16:54:17Z</dcterms:created>
  <dcterms:modified xsi:type="dcterms:W3CDTF">2026-10-04T21:54:23Z</dcterms:modified>
</cp:coreProperties>
</file>